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vous présente mon rapport de stage de fin de formation en froid et climatisation, dont le thème est la plomberie sanitaire : la distribution d'eau froide et d'eau chaude dans un immeuble à étages.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présentation suit le plan du rapport.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construction urbaine se développe au Cameroun et chaque bâtiment a besoin d'installations techniques fiables. J'ai choisi une entreprise multi-lots pour voir comment froid, plomberie et électricité s'articulent sur un même chantier.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L'entreprise est une SARL spécialisée dans les lots techniques du bâtiment. Elle va de l'étude à la maintenance.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L'entreprise est organisée en divisions. J'étais aide-technicien plombier, rattaché à l'équipe plomberie.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stage s'est déroulé en phases : préparation, pose des canalisations, essais, isolation, réducteurs de pression, robinetterie, appui à la climatisation, puis mise en eau.</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difficulté a trouvé une solution. J'ai acquis des compétences techniques et personnelles.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installation comprend le branchement, éventuellement une bâche et un surpresseur, les colonnes d'eau froide et d'eau chaude, les réducteurs de pression aux étages, les appareils et les évacuations.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Exemple d'un immeuble R+10, 40 chambres avec lavabo, douche et WC. Avec le coefficient de simultanéité du DTU 60.11 majoré pour l'hôtellerie, le débit probable de la colonne est de 1,91 litre par seconde. Avec une vitesse maximale de 1,5 mètre par seconde, on retient un tube PPR de 63 millimètres.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pression décroît d'environ 0,3 bar par étage. Du rez-de-chaussée au quatrième étage, elle dépasse 3 bar : on y installe un réducteur de pression réglé à 3 bar, avec un manomètre de contrôle.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opérations clés : la polyfusion du PPR à 260 degrés, le montage des réducteurs, l'isolation et l'essai d'étanchéité.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thème rejoint ma spécialité : l'isolation évite la condensation comme sur les lignes frigorifiques, les condensats des splits rejoignent le réseau d'eaux usées, et une pompe à chaleur peut produire l'eau chaude.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L'entreprise a un bon encadrement technique. Les axes de progrès sont la logistique, la sécurité et la traçabilité.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stage a été très enrichissant. Il a conforté mon projet : devenir technicien en froid et climatisation, capable d'intervenir aussi sur les réseaux de fluides du bâtiment.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vous remercie pour votre attention et reste disponible pour vos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28600" y="228600"/>
            <a:ext cx="11734495" cy="6400800"/>
          </a:xfrm>
          <a:prstGeom prst="rect">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411480"/>
            <a:ext cx="5029200" cy="822960"/>
          </a:xfrm>
          <a:prstGeom prst="rect">
            <a:avLst/>
          </a:prstGeom>
          <a:noFill/>
        </p:spPr>
        <p:txBody>
          <a:bodyPr wrap="square" anchor="t" lIns="45720" rIns="45720">
            <a:spAutoFit/>
          </a:bodyPr>
          <a:lstStyle/>
          <a:p>
            <a:pPr algn="l"/>
            <a:r>
              <a:rPr sz="1100" b="1" i="0">
                <a:solidFill>
                  <a:srgbClr val="5B6770"/>
                </a:solidFill>
                <a:latin typeface="Arial"/>
              </a:rPr>
              <a:t>RÉPUBLIQUE DU CAMEROUN</a:t>
            </a:r>
          </a:p>
          <a:p>
            <a:pPr algn="l"/>
            <a:r>
              <a:rPr sz="1100" b="1" i="0">
                <a:solidFill>
                  <a:srgbClr val="5B6770"/>
                </a:solidFill>
                <a:latin typeface="Arial"/>
              </a:rPr>
              <a:t>Ministère de l'Emploi et de la Formation professionnelle</a:t>
            </a:r>
          </a:p>
        </p:txBody>
      </p:sp>
      <p:sp>
        <p:nvSpPr>
          <p:cNvPr id="5" name="TextBox 4"/>
          <p:cNvSpPr txBox="1"/>
          <p:nvPr/>
        </p:nvSpPr>
        <p:spPr>
          <a:xfrm>
            <a:off x="6583680" y="411480"/>
            <a:ext cx="5029200" cy="822960"/>
          </a:xfrm>
          <a:prstGeom prst="rect">
            <a:avLst/>
          </a:prstGeom>
          <a:noFill/>
        </p:spPr>
        <p:txBody>
          <a:bodyPr wrap="square" anchor="t" lIns="45720" rIns="45720">
            <a:spAutoFit/>
          </a:bodyPr>
          <a:lstStyle/>
          <a:p>
            <a:pPr algn="r"/>
            <a:r>
              <a:rPr sz="1100" b="1" i="0">
                <a:solidFill>
                  <a:srgbClr val="5B6770"/>
                </a:solidFill>
                <a:latin typeface="Arial"/>
              </a:rPr>
              <a:t>REPUBLIC OF CAMEROON</a:t>
            </a:r>
          </a:p>
          <a:p>
            <a:pPr algn="r"/>
            <a:r>
              <a:rPr sz="1100" b="1" i="0">
                <a:solidFill>
                  <a:srgbClr val="5B6770"/>
                </a:solidFill>
                <a:latin typeface="Arial"/>
              </a:rPr>
              <a:t>Ministry of Employment and Vocational Training</a:t>
            </a:r>
          </a:p>
        </p:txBody>
      </p:sp>
      <p:pic>
        <p:nvPicPr>
          <p:cNvPr id="6" name="Picture 5" descr="logo_cfp.png"/>
          <p:cNvPicPr>
            <a:picLocks noChangeAspect="1"/>
          </p:cNvPicPr>
          <p:nvPr/>
        </p:nvPicPr>
        <p:blipFill>
          <a:blip r:embed="rId2"/>
          <a:stretch>
            <a:fillRect/>
          </a:stretch>
        </p:blipFill>
        <p:spPr>
          <a:xfrm>
            <a:off x="640080" y="1325880"/>
            <a:ext cx="1280160" cy="1280160"/>
          </a:xfrm>
          <a:prstGeom prst="rect">
            <a:avLst/>
          </a:prstGeom>
        </p:spPr>
      </p:pic>
      <p:pic>
        <p:nvPicPr>
          <p:cNvPr id="7" name="Picture 6" descr="logo_entreprise.png"/>
          <p:cNvPicPr>
            <a:picLocks noChangeAspect="1"/>
          </p:cNvPicPr>
          <p:nvPr/>
        </p:nvPicPr>
        <p:blipFill>
          <a:blip r:embed="rId3"/>
          <a:stretch>
            <a:fillRect/>
          </a:stretch>
        </p:blipFill>
        <p:spPr>
          <a:xfrm>
            <a:off x="10241280" y="1325880"/>
            <a:ext cx="1280160" cy="1280160"/>
          </a:xfrm>
          <a:prstGeom prst="rect">
            <a:avLst/>
          </a:prstGeom>
        </p:spPr>
      </p:pic>
      <p:sp>
        <p:nvSpPr>
          <p:cNvPr id="8" name="TextBox 7"/>
          <p:cNvSpPr txBox="1"/>
          <p:nvPr/>
        </p:nvSpPr>
        <p:spPr>
          <a:xfrm>
            <a:off x="2103120" y="1371600"/>
            <a:ext cx="7955279" cy="457200"/>
          </a:xfrm>
          <a:prstGeom prst="rect">
            <a:avLst/>
          </a:prstGeom>
          <a:noFill/>
        </p:spPr>
        <p:txBody>
          <a:bodyPr wrap="square" anchor="t" lIns="45720" rIns="45720">
            <a:spAutoFit/>
          </a:bodyPr>
          <a:lstStyle/>
          <a:p>
            <a:pPr algn="ctr"/>
            <a:r>
              <a:rPr sz="1400" b="1" i="0">
                <a:solidFill>
                  <a:srgbClr val="1B4D1F"/>
                </a:solidFill>
                <a:latin typeface="Arial"/>
              </a:rPr>
              <a:t>EXAMENS NATIONAUX DE FIN DE CYCLE DE FORMATION PROFESSIONNELLE</a:t>
            </a:r>
          </a:p>
        </p:txBody>
      </p:sp>
      <p:sp>
        <p:nvSpPr>
          <p:cNvPr id="9" name="TextBox 8"/>
          <p:cNvSpPr txBox="1"/>
          <p:nvPr/>
        </p:nvSpPr>
        <p:spPr>
          <a:xfrm>
            <a:off x="2103120" y="1828800"/>
            <a:ext cx="7955279" cy="457200"/>
          </a:xfrm>
          <a:prstGeom prst="rect">
            <a:avLst/>
          </a:prstGeom>
          <a:noFill/>
        </p:spPr>
        <p:txBody>
          <a:bodyPr wrap="square" anchor="t" lIns="45720" rIns="45720">
            <a:spAutoFit/>
          </a:bodyPr>
          <a:lstStyle/>
          <a:p>
            <a:pPr algn="ctr"/>
            <a:r>
              <a:rPr sz="1800" b="0" i="0">
                <a:solidFill>
                  <a:srgbClr val="5B6770"/>
                </a:solidFill>
                <a:latin typeface="Arial"/>
              </a:rPr>
              <a:t>Soutenance du rapport de stage</a:t>
            </a:r>
          </a:p>
        </p:txBody>
      </p:sp>
      <p:sp>
        <p:nvSpPr>
          <p:cNvPr id="10" name="Rounded Rectangle 9"/>
          <p:cNvSpPr/>
          <p:nvPr/>
        </p:nvSpPr>
        <p:spPr>
          <a:xfrm>
            <a:off x="1280160" y="2651760"/>
            <a:ext cx="9601200" cy="1417320"/>
          </a:xfrm>
          <a:prstGeom prst="roundRect">
            <a:avLst/>
          </a:prstGeom>
          <a:solidFill>
            <a:srgbClr val="66BB6A"/>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i="0">
                <a:solidFill>
                  <a:srgbClr val="FFFFFF"/>
                </a:solidFill>
                <a:latin typeface="Arial"/>
              </a:rPr>
              <a:t>Thème : PLOMBERIE SANITAIRE</a:t>
            </a:r>
          </a:p>
          <a:p>
            <a:pPr algn="ctr"/>
            <a:r>
              <a:rPr sz="2400" b="0" i="0">
                <a:solidFill>
                  <a:srgbClr val="FFFFFF"/>
                </a:solidFill>
                <a:latin typeface="Arial"/>
              </a:rPr>
              <a:t>Distribution d'eau froide et d'eau chaude sanitaire dans un immeuble à étages</a:t>
            </a:r>
          </a:p>
        </p:txBody>
      </p:sp>
      <p:sp>
        <p:nvSpPr>
          <p:cNvPr id="11" name="TextBox 10"/>
          <p:cNvSpPr txBox="1"/>
          <p:nvPr/>
        </p:nvSpPr>
        <p:spPr>
          <a:xfrm>
            <a:off x="731520" y="4251960"/>
            <a:ext cx="10698480" cy="457200"/>
          </a:xfrm>
          <a:prstGeom prst="rect">
            <a:avLst/>
          </a:prstGeom>
          <a:noFill/>
        </p:spPr>
        <p:txBody>
          <a:bodyPr wrap="square" anchor="t" lIns="45720" rIns="45720">
            <a:spAutoFit/>
          </a:bodyPr>
          <a:lstStyle/>
          <a:p>
            <a:pPr algn="ctr"/>
            <a:r>
              <a:rPr sz="1500" b="1" i="0">
                <a:solidFill>
                  <a:srgbClr val="1B4D1F"/>
                </a:solidFill>
                <a:latin typeface="Arial"/>
              </a:rPr>
              <a:t>Spécialité : Froid et climatisation  —  stage effectué à </a:t>
            </a:r>
            <a:r>
              <a:rPr sz="1500" b="1" i="0">
                <a:solidFill>
                  <a:srgbClr val="E65100"/>
                </a:solidFill>
                <a:latin typeface="Arial"/>
              </a:rPr>
              <a:t>[À COMPLÉTER : Raison sociale de l'entreprise]</a:t>
            </a:r>
          </a:p>
        </p:txBody>
      </p:sp>
      <p:sp>
        <p:nvSpPr>
          <p:cNvPr id="12" name="TextBox 11"/>
          <p:cNvSpPr txBox="1"/>
          <p:nvPr/>
        </p:nvSpPr>
        <p:spPr>
          <a:xfrm>
            <a:off x="731520" y="4800600"/>
            <a:ext cx="5120640" cy="1097280"/>
          </a:xfrm>
          <a:prstGeom prst="rect">
            <a:avLst/>
          </a:prstGeom>
          <a:noFill/>
        </p:spPr>
        <p:txBody>
          <a:bodyPr wrap="square" anchor="t" lIns="45720" rIns="45720">
            <a:spAutoFit/>
          </a:bodyPr>
          <a:lstStyle/>
          <a:p>
            <a:pPr algn="ctr"/>
            <a:r>
              <a:rPr sz="1500" b="1" i="0">
                <a:solidFill>
                  <a:srgbClr val="222B33"/>
                </a:solidFill>
                <a:latin typeface="Arial"/>
              </a:rPr>
              <a:t>Présenté par</a:t>
            </a:r>
          </a:p>
          <a:p>
            <a:pPr algn="ctr"/>
            <a:r>
              <a:rPr sz="1500" b="1" i="0">
                <a:solidFill>
                  <a:srgbClr val="E65100"/>
                </a:solidFill>
                <a:latin typeface="Arial"/>
              </a:rPr>
              <a:t>[À COMPLÉTER : NOM et Prénoms du stagiaire]</a:t>
            </a:r>
          </a:p>
        </p:txBody>
      </p:sp>
      <p:sp>
        <p:nvSpPr>
          <p:cNvPr id="13" name="TextBox 12"/>
          <p:cNvSpPr txBox="1"/>
          <p:nvPr/>
        </p:nvSpPr>
        <p:spPr>
          <a:xfrm>
            <a:off x="6309360" y="4800600"/>
            <a:ext cx="5120640" cy="1097280"/>
          </a:xfrm>
          <a:prstGeom prst="rect">
            <a:avLst/>
          </a:prstGeom>
          <a:noFill/>
        </p:spPr>
        <p:txBody>
          <a:bodyPr wrap="square" anchor="t" lIns="45720" rIns="45720">
            <a:spAutoFit/>
          </a:bodyPr>
          <a:lstStyle/>
          <a:p>
            <a:pPr algn="ctr"/>
            <a:r>
              <a:rPr sz="1300" b="0" i="0">
                <a:solidFill>
                  <a:srgbClr val="222B33"/>
                </a:solidFill>
                <a:latin typeface="Arial"/>
              </a:rPr>
              <a:t>Encadrement</a:t>
            </a:r>
          </a:p>
          <a:p>
            <a:pPr algn="ctr"/>
            <a:r>
              <a:rPr sz="1300" b="0" i="0">
                <a:solidFill>
                  <a:srgbClr val="E65100"/>
                </a:solidFill>
                <a:latin typeface="Arial"/>
              </a:rPr>
              <a:t>[À COMPLÉTER : M./Mme NOM Prénom]</a:t>
            </a:r>
            <a:r>
              <a:rPr sz="1300" b="0" i="0">
                <a:solidFill>
                  <a:srgbClr val="222B33"/>
                </a:solidFill>
                <a:latin typeface="Arial"/>
              </a:rPr>
              <a:t> (académique)</a:t>
            </a:r>
          </a:p>
          <a:p>
            <a:pPr algn="ctr"/>
            <a:r>
              <a:rPr sz="1300" b="0" i="0">
                <a:solidFill>
                  <a:srgbClr val="E65100"/>
                </a:solidFill>
                <a:latin typeface="Arial"/>
              </a:rPr>
              <a:t>[À COMPLÉTER : M./Mme NOM Prénom]</a:t>
            </a:r>
            <a:r>
              <a:rPr sz="1300" b="0" i="0">
                <a:solidFill>
                  <a:srgbClr val="222B33"/>
                </a:solidFill>
                <a:latin typeface="Arial"/>
              </a:rPr>
              <a:t> (professionnel)</a:t>
            </a:r>
          </a:p>
        </p:txBody>
      </p:sp>
      <p:sp>
        <p:nvSpPr>
          <p:cNvPr id="14" name="TextBox 13"/>
          <p:cNvSpPr txBox="1"/>
          <p:nvPr/>
        </p:nvSpPr>
        <p:spPr>
          <a:xfrm>
            <a:off x="731520" y="5989320"/>
            <a:ext cx="10698480" cy="365760"/>
          </a:xfrm>
          <a:prstGeom prst="rect">
            <a:avLst/>
          </a:prstGeom>
          <a:noFill/>
        </p:spPr>
        <p:txBody>
          <a:bodyPr wrap="square" anchor="t" lIns="45720" rIns="45720">
            <a:spAutoFit/>
          </a:bodyPr>
          <a:lstStyle/>
          <a:p>
            <a:pPr algn="ctr"/>
            <a:r>
              <a:rPr sz="1300" b="1" i="0">
                <a:solidFill>
                  <a:srgbClr val="2E7D32"/>
                </a:solidFill>
                <a:latin typeface="Arial"/>
              </a:rPr>
              <a:t>Session </a:t>
            </a:r>
            <a:r>
              <a:rPr sz="1300" b="1" i="0">
                <a:solidFill>
                  <a:srgbClr val="E65100"/>
                </a:solidFill>
                <a:latin typeface="Arial"/>
              </a:rPr>
              <a:t>[À COMPLÉTER : Session (ex.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DDE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
            <a:ext cx="8229600" cy="274320"/>
          </a:xfrm>
          <a:prstGeom prst="rect">
            <a:avLst/>
          </a:prstGeom>
          <a:noFill/>
        </p:spPr>
        <p:txBody>
          <a:bodyPr wrap="square" anchor="t" lIns="45720" rIns="45720">
            <a:spAutoFit/>
          </a:bodyPr>
          <a:lstStyle/>
          <a:p>
            <a:pPr algn="l"/>
            <a:r>
              <a:rPr sz="1000" b="1" i="1">
                <a:solidFill>
                  <a:srgbClr val="1B4D1F"/>
                </a:solidFill>
                <a:latin typeface="Arial"/>
              </a:rPr>
              <a:t>Plomberie sanitaire — cas de </a:t>
            </a:r>
            <a:r>
              <a:rPr sz="1000" b="1" i="1">
                <a:solidFill>
                  <a:srgbClr val="E65100"/>
                </a:solidFill>
                <a:latin typeface="Arial"/>
              </a:rPr>
              <a:t>[À COMPLÉTER : SIGLE]</a:t>
            </a:r>
          </a:p>
        </p:txBody>
      </p:sp>
      <p:sp>
        <p:nvSpPr>
          <p:cNvPr id="4" name="TextBox 3"/>
          <p:cNvSpPr txBox="1"/>
          <p:nvPr/>
        </p:nvSpPr>
        <p:spPr>
          <a:xfrm>
            <a:off x="457200" y="457200"/>
            <a:ext cx="11247120" cy="731520"/>
          </a:xfrm>
          <a:prstGeom prst="rect">
            <a:avLst/>
          </a:prstGeom>
          <a:noFill/>
        </p:spPr>
        <p:txBody>
          <a:bodyPr wrap="square" anchor="ctr" lIns="45720" rIns="45720">
            <a:spAutoFit/>
          </a:bodyPr>
          <a:lstStyle/>
          <a:p>
            <a:pPr algn="l"/>
            <a:r>
              <a:rPr sz="2800" b="1" i="0">
                <a:solidFill>
                  <a:srgbClr val="1B4D1F"/>
                </a:solidFill>
                <a:latin typeface="Arial"/>
              </a:rPr>
              <a:t>Plan de la présentation</a:t>
            </a:r>
          </a:p>
        </p:txBody>
      </p:sp>
      <p:sp>
        <p:nvSpPr>
          <p:cNvPr id="5" name="Rectangle 4"/>
          <p:cNvSpPr/>
          <p:nvPr/>
        </p:nvSpPr>
        <p:spPr>
          <a:xfrm>
            <a:off x="502920" y="1170432"/>
            <a:ext cx="1188720" cy="640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 name="Connector 5"/>
          <p:cNvCxnSpPr/>
          <p:nvPr/>
        </p:nvCxnSpPr>
        <p:spPr>
          <a:xfrm>
            <a:off x="457200" y="6382512"/>
            <a:ext cx="11292840" cy="0"/>
          </a:xfrm>
          <a:prstGeom prst="line">
            <a:avLst/>
          </a:prstGeom>
          <a:ln>
            <a:solidFill>
              <a:srgbClr val="C8D8C8"/>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57200" y="6419088"/>
            <a:ext cx="8229600" cy="320040"/>
          </a:xfrm>
          <a:prstGeom prst="rect">
            <a:avLst/>
          </a:prstGeom>
          <a:noFill/>
        </p:spPr>
        <p:txBody>
          <a:bodyPr wrap="square" anchor="t" lIns="45720" rIns="45720">
            <a:spAutoFit/>
          </a:bodyPr>
          <a:lstStyle/>
          <a:p>
            <a:pPr algn="l"/>
            <a:r>
              <a:rPr sz="1100" b="1" i="1">
                <a:solidFill>
                  <a:srgbClr val="5B6770"/>
                </a:solidFill>
                <a:latin typeface="Arial"/>
              </a:rPr>
              <a:t>Rédigé et présenté par </a:t>
            </a:r>
            <a:r>
              <a:rPr sz="1100" b="1" i="1">
                <a:solidFill>
                  <a:srgbClr val="E65100"/>
                </a:solidFill>
                <a:latin typeface="Arial"/>
              </a:rPr>
              <a:t>[À COMPLÉTER : NOM Prénom]</a:t>
            </a:r>
            <a:r>
              <a:rPr sz="1100" b="1" i="1">
                <a:solidFill>
                  <a:srgbClr val="5B6770"/>
                </a:solidFill>
                <a:latin typeface="Arial"/>
              </a:rPr>
              <a:t>  —  Froid et climatisation</a:t>
            </a:r>
          </a:p>
        </p:txBody>
      </p:sp>
      <p:sp>
        <p:nvSpPr>
          <p:cNvPr id="8" name="Rounded Rectangle 7"/>
          <p:cNvSpPr/>
          <p:nvPr/>
        </p:nvSpPr>
        <p:spPr>
          <a:xfrm>
            <a:off x="822960" y="1463040"/>
            <a:ext cx="640080" cy="64008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Arial"/>
              </a:rPr>
              <a:t>1</a:t>
            </a:r>
          </a:p>
        </p:txBody>
      </p:sp>
      <p:sp>
        <p:nvSpPr>
          <p:cNvPr id="9" name="TextBox 8"/>
          <p:cNvSpPr txBox="1"/>
          <p:nvPr/>
        </p:nvSpPr>
        <p:spPr>
          <a:xfrm>
            <a:off x="1691640" y="1444752"/>
            <a:ext cx="9144000" cy="365760"/>
          </a:xfrm>
          <a:prstGeom prst="rect">
            <a:avLst/>
          </a:prstGeom>
          <a:noFill/>
        </p:spPr>
        <p:txBody>
          <a:bodyPr wrap="square" anchor="t" lIns="45720" rIns="45720">
            <a:spAutoFit/>
          </a:bodyPr>
          <a:lstStyle/>
          <a:p>
            <a:pPr algn="l"/>
            <a:r>
              <a:rPr sz="2000" b="1" i="0">
                <a:solidFill>
                  <a:srgbClr val="1B4D1F"/>
                </a:solidFill>
                <a:latin typeface="Arial"/>
              </a:rPr>
              <a:t>Introduction</a:t>
            </a:r>
          </a:p>
        </p:txBody>
      </p:sp>
      <p:sp>
        <p:nvSpPr>
          <p:cNvPr id="10" name="TextBox 9"/>
          <p:cNvSpPr txBox="1"/>
          <p:nvPr/>
        </p:nvSpPr>
        <p:spPr>
          <a:xfrm>
            <a:off x="1691640" y="1792224"/>
            <a:ext cx="9144000" cy="320040"/>
          </a:xfrm>
          <a:prstGeom prst="rect">
            <a:avLst/>
          </a:prstGeom>
          <a:noFill/>
        </p:spPr>
        <p:txBody>
          <a:bodyPr wrap="square" anchor="t" lIns="45720" rIns="45720">
            <a:spAutoFit/>
          </a:bodyPr>
          <a:lstStyle/>
          <a:p>
            <a:pPr algn="l"/>
            <a:r>
              <a:rPr sz="1400" b="0" i="0">
                <a:solidFill>
                  <a:srgbClr val="5B6770"/>
                </a:solidFill>
                <a:latin typeface="Arial"/>
              </a:rPr>
              <a:t>Contexte et choix du stage</a:t>
            </a:r>
          </a:p>
        </p:txBody>
      </p:sp>
      <p:sp>
        <p:nvSpPr>
          <p:cNvPr id="11" name="Rounded Rectangle 10"/>
          <p:cNvSpPr/>
          <p:nvPr/>
        </p:nvSpPr>
        <p:spPr>
          <a:xfrm>
            <a:off x="822960" y="2249424"/>
            <a:ext cx="640080" cy="640080"/>
          </a:xfrm>
          <a:prstGeom prst="roundRect">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Arial"/>
              </a:rPr>
              <a:t>2</a:t>
            </a:r>
          </a:p>
        </p:txBody>
      </p:sp>
      <p:sp>
        <p:nvSpPr>
          <p:cNvPr id="12" name="TextBox 11"/>
          <p:cNvSpPr txBox="1"/>
          <p:nvPr/>
        </p:nvSpPr>
        <p:spPr>
          <a:xfrm>
            <a:off x="1691640" y="2231136"/>
            <a:ext cx="9144000" cy="365760"/>
          </a:xfrm>
          <a:prstGeom prst="rect">
            <a:avLst/>
          </a:prstGeom>
          <a:noFill/>
        </p:spPr>
        <p:txBody>
          <a:bodyPr wrap="square" anchor="t" lIns="45720" rIns="45720">
            <a:spAutoFit/>
          </a:bodyPr>
          <a:lstStyle/>
          <a:p>
            <a:pPr algn="l"/>
            <a:r>
              <a:rPr sz="2000" b="1" i="0">
                <a:solidFill>
                  <a:srgbClr val="1B4D1F"/>
                </a:solidFill>
                <a:latin typeface="Arial"/>
              </a:rPr>
              <a:t>L'entreprise d'accueil</a:t>
            </a:r>
          </a:p>
        </p:txBody>
      </p:sp>
      <p:sp>
        <p:nvSpPr>
          <p:cNvPr id="13" name="TextBox 12"/>
          <p:cNvSpPr txBox="1"/>
          <p:nvPr/>
        </p:nvSpPr>
        <p:spPr>
          <a:xfrm>
            <a:off x="1691640" y="2578608"/>
            <a:ext cx="9144000" cy="320040"/>
          </a:xfrm>
          <a:prstGeom prst="rect">
            <a:avLst/>
          </a:prstGeom>
          <a:noFill/>
        </p:spPr>
        <p:txBody>
          <a:bodyPr wrap="square" anchor="t" lIns="45720" rIns="45720">
            <a:spAutoFit/>
          </a:bodyPr>
          <a:lstStyle/>
          <a:p>
            <a:pPr algn="l"/>
            <a:r>
              <a:rPr sz="1400" b="0" i="0">
                <a:solidFill>
                  <a:srgbClr val="5B6770"/>
                </a:solidFill>
                <a:latin typeface="Arial"/>
              </a:rPr>
              <a:t>Activités, organisation, environnement</a:t>
            </a:r>
          </a:p>
        </p:txBody>
      </p:sp>
      <p:sp>
        <p:nvSpPr>
          <p:cNvPr id="14" name="Rounded Rectangle 13"/>
          <p:cNvSpPr/>
          <p:nvPr/>
        </p:nvSpPr>
        <p:spPr>
          <a:xfrm>
            <a:off x="822960" y="3035808"/>
            <a:ext cx="640080" cy="64008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Arial"/>
              </a:rPr>
              <a:t>3</a:t>
            </a:r>
          </a:p>
        </p:txBody>
      </p:sp>
      <p:sp>
        <p:nvSpPr>
          <p:cNvPr id="15" name="TextBox 14"/>
          <p:cNvSpPr txBox="1"/>
          <p:nvPr/>
        </p:nvSpPr>
        <p:spPr>
          <a:xfrm>
            <a:off x="1691640" y="3017520"/>
            <a:ext cx="9144000" cy="365760"/>
          </a:xfrm>
          <a:prstGeom prst="rect">
            <a:avLst/>
          </a:prstGeom>
          <a:noFill/>
        </p:spPr>
        <p:txBody>
          <a:bodyPr wrap="square" anchor="t" lIns="45720" rIns="45720">
            <a:spAutoFit/>
          </a:bodyPr>
          <a:lstStyle/>
          <a:p>
            <a:pPr algn="l"/>
            <a:r>
              <a:rPr sz="2000" b="1" i="0">
                <a:solidFill>
                  <a:srgbClr val="1B4D1F"/>
                </a:solidFill>
                <a:latin typeface="Arial"/>
              </a:rPr>
              <a:t>Déroulement du stage</a:t>
            </a:r>
          </a:p>
        </p:txBody>
      </p:sp>
      <p:sp>
        <p:nvSpPr>
          <p:cNvPr id="16" name="TextBox 15"/>
          <p:cNvSpPr txBox="1"/>
          <p:nvPr/>
        </p:nvSpPr>
        <p:spPr>
          <a:xfrm>
            <a:off x="1691640" y="3364992"/>
            <a:ext cx="9144000" cy="320040"/>
          </a:xfrm>
          <a:prstGeom prst="rect">
            <a:avLst/>
          </a:prstGeom>
          <a:noFill/>
        </p:spPr>
        <p:txBody>
          <a:bodyPr wrap="square" anchor="t" lIns="45720" rIns="45720">
            <a:spAutoFit/>
          </a:bodyPr>
          <a:lstStyle/>
          <a:p>
            <a:pPr algn="l"/>
            <a:r>
              <a:rPr sz="1400" b="0" i="0">
                <a:solidFill>
                  <a:srgbClr val="5B6770"/>
                </a:solidFill>
                <a:latin typeface="Arial"/>
              </a:rPr>
              <a:t>Poste, planning, résultats, compétences</a:t>
            </a:r>
          </a:p>
        </p:txBody>
      </p:sp>
      <p:sp>
        <p:nvSpPr>
          <p:cNvPr id="17" name="Rounded Rectangle 16"/>
          <p:cNvSpPr/>
          <p:nvPr/>
        </p:nvSpPr>
        <p:spPr>
          <a:xfrm>
            <a:off x="822960" y="3822191"/>
            <a:ext cx="640080" cy="640080"/>
          </a:xfrm>
          <a:prstGeom prst="roundRect">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Arial"/>
              </a:rPr>
              <a:t>4</a:t>
            </a:r>
          </a:p>
        </p:txBody>
      </p:sp>
      <p:sp>
        <p:nvSpPr>
          <p:cNvPr id="18" name="TextBox 17"/>
          <p:cNvSpPr txBox="1"/>
          <p:nvPr/>
        </p:nvSpPr>
        <p:spPr>
          <a:xfrm>
            <a:off x="1691640" y="3803904"/>
            <a:ext cx="9144000" cy="365760"/>
          </a:xfrm>
          <a:prstGeom prst="rect">
            <a:avLst/>
          </a:prstGeom>
          <a:noFill/>
        </p:spPr>
        <p:txBody>
          <a:bodyPr wrap="square" anchor="t" lIns="45720" rIns="45720">
            <a:spAutoFit/>
          </a:bodyPr>
          <a:lstStyle/>
          <a:p>
            <a:pPr algn="l"/>
            <a:r>
              <a:rPr sz="2000" b="1" i="0">
                <a:solidFill>
                  <a:srgbClr val="1B4D1F"/>
                </a:solidFill>
                <a:latin typeface="Arial"/>
              </a:rPr>
              <a:t>Plomberie sanitaire</a:t>
            </a:r>
          </a:p>
        </p:txBody>
      </p:sp>
      <p:sp>
        <p:nvSpPr>
          <p:cNvPr id="19" name="TextBox 18"/>
          <p:cNvSpPr txBox="1"/>
          <p:nvPr/>
        </p:nvSpPr>
        <p:spPr>
          <a:xfrm>
            <a:off x="1691640" y="4151376"/>
            <a:ext cx="9144000" cy="320040"/>
          </a:xfrm>
          <a:prstGeom prst="rect">
            <a:avLst/>
          </a:prstGeom>
          <a:noFill/>
        </p:spPr>
        <p:txBody>
          <a:bodyPr wrap="square" anchor="t" lIns="45720" rIns="45720">
            <a:spAutoFit/>
          </a:bodyPr>
          <a:lstStyle/>
          <a:p>
            <a:pPr algn="l"/>
            <a:r>
              <a:rPr sz="1400" b="0" i="0">
                <a:solidFill>
                  <a:srgbClr val="5B6770"/>
                </a:solidFill>
                <a:latin typeface="Arial"/>
              </a:rPr>
              <a:t>Généralités, dimensionnement, mise en œuvre, liens avec le froid</a:t>
            </a:r>
          </a:p>
        </p:txBody>
      </p:sp>
      <p:sp>
        <p:nvSpPr>
          <p:cNvPr id="20" name="Rounded Rectangle 19"/>
          <p:cNvSpPr/>
          <p:nvPr/>
        </p:nvSpPr>
        <p:spPr>
          <a:xfrm>
            <a:off x="822960" y="4608576"/>
            <a:ext cx="640080" cy="640080"/>
          </a:xfrm>
          <a:prstGeom prst="round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Arial"/>
              </a:rPr>
              <a:t>5</a:t>
            </a:r>
          </a:p>
        </p:txBody>
      </p:sp>
      <p:sp>
        <p:nvSpPr>
          <p:cNvPr id="21" name="TextBox 20"/>
          <p:cNvSpPr txBox="1"/>
          <p:nvPr/>
        </p:nvSpPr>
        <p:spPr>
          <a:xfrm>
            <a:off x="1691640" y="4590288"/>
            <a:ext cx="9144000" cy="365760"/>
          </a:xfrm>
          <a:prstGeom prst="rect">
            <a:avLst/>
          </a:prstGeom>
          <a:noFill/>
        </p:spPr>
        <p:txBody>
          <a:bodyPr wrap="square" anchor="t" lIns="45720" rIns="45720">
            <a:spAutoFit/>
          </a:bodyPr>
          <a:lstStyle/>
          <a:p>
            <a:pPr algn="l"/>
            <a:r>
              <a:rPr sz="2000" b="1" i="0">
                <a:solidFill>
                  <a:srgbClr val="1B4D1F"/>
                </a:solidFill>
                <a:latin typeface="Arial"/>
              </a:rPr>
              <a:t>Critiques et suggestions</a:t>
            </a:r>
          </a:p>
        </p:txBody>
      </p:sp>
      <p:sp>
        <p:nvSpPr>
          <p:cNvPr id="22" name="TextBox 21"/>
          <p:cNvSpPr txBox="1"/>
          <p:nvPr/>
        </p:nvSpPr>
        <p:spPr>
          <a:xfrm>
            <a:off x="1691640" y="4937760"/>
            <a:ext cx="9144000" cy="320040"/>
          </a:xfrm>
          <a:prstGeom prst="rect">
            <a:avLst/>
          </a:prstGeom>
          <a:noFill/>
        </p:spPr>
        <p:txBody>
          <a:bodyPr wrap="square" anchor="t" lIns="45720" rIns="45720">
            <a:spAutoFit/>
          </a:bodyPr>
          <a:lstStyle/>
          <a:p>
            <a:pPr algn="l"/>
            <a:r>
              <a:rPr sz="1400" b="0" i="0">
                <a:solidFill>
                  <a:srgbClr val="5B6770"/>
                </a:solidFill>
                <a:latin typeface="Arial"/>
              </a:rPr>
              <a:t>Points forts et axes de progrès</a:t>
            </a:r>
          </a:p>
        </p:txBody>
      </p:sp>
      <p:sp>
        <p:nvSpPr>
          <p:cNvPr id="23" name="Rounded Rectangle 22"/>
          <p:cNvSpPr/>
          <p:nvPr/>
        </p:nvSpPr>
        <p:spPr>
          <a:xfrm>
            <a:off x="822960" y="5394960"/>
            <a:ext cx="640080" cy="640080"/>
          </a:xfrm>
          <a:prstGeom prst="roundRect">
            <a:avLst/>
          </a:prstGeom>
          <a:solidFill>
            <a:srgbClr val="66BB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000" b="1" i="0">
                <a:solidFill>
                  <a:srgbClr val="FFFFFF"/>
                </a:solidFill>
                <a:latin typeface="Arial"/>
              </a:rPr>
              <a:t>6</a:t>
            </a:r>
          </a:p>
        </p:txBody>
      </p:sp>
      <p:sp>
        <p:nvSpPr>
          <p:cNvPr id="24" name="TextBox 23"/>
          <p:cNvSpPr txBox="1"/>
          <p:nvPr/>
        </p:nvSpPr>
        <p:spPr>
          <a:xfrm>
            <a:off x="1691640" y="5376672"/>
            <a:ext cx="9144000" cy="365760"/>
          </a:xfrm>
          <a:prstGeom prst="rect">
            <a:avLst/>
          </a:prstGeom>
          <a:noFill/>
        </p:spPr>
        <p:txBody>
          <a:bodyPr wrap="square" anchor="t" lIns="45720" rIns="45720">
            <a:spAutoFit/>
          </a:bodyPr>
          <a:lstStyle/>
          <a:p>
            <a:pPr algn="l"/>
            <a:r>
              <a:rPr sz="2000" b="1" i="0">
                <a:solidFill>
                  <a:srgbClr val="1B4D1F"/>
                </a:solidFill>
                <a:latin typeface="Arial"/>
              </a:rPr>
              <a:t>Conclusion</a:t>
            </a:r>
          </a:p>
        </p:txBody>
      </p:sp>
      <p:sp>
        <p:nvSpPr>
          <p:cNvPr id="25" name="TextBox 24"/>
          <p:cNvSpPr txBox="1"/>
          <p:nvPr/>
        </p:nvSpPr>
        <p:spPr>
          <a:xfrm>
            <a:off x="1691640" y="5724144"/>
            <a:ext cx="9144000" cy="320040"/>
          </a:xfrm>
          <a:prstGeom prst="rect">
            <a:avLst/>
          </a:prstGeom>
          <a:noFill/>
        </p:spPr>
        <p:txBody>
          <a:bodyPr wrap="square" anchor="t" lIns="45720" rIns="45720">
            <a:spAutoFit/>
          </a:bodyPr>
          <a:lstStyle/>
          <a:p>
            <a:pPr algn="l"/>
            <a:r>
              <a:rPr sz="1400" b="0" i="0">
                <a:solidFill>
                  <a:srgbClr val="5B6770"/>
                </a:solidFill>
                <a:latin typeface="Arial"/>
              </a:rPr>
              <a:t>Bilan et projet professionnel</a:t>
            </a:r>
          </a:p>
        </p:txBody>
      </p:sp>
      <p:sp>
        <p:nvSpPr>
          <p:cNvPr id="26" name="Rectangle 25"/>
          <p:cNvSpPr/>
          <p:nvPr/>
        </p:nvSpPr>
        <p:spPr>
          <a:xfrm>
            <a:off x="10972800" y="6419088"/>
            <a:ext cx="777240"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Arial"/>
              </a:rPr>
              <a:t>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DDE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
            <a:ext cx="8229600" cy="274320"/>
          </a:xfrm>
          <a:prstGeom prst="rect">
            <a:avLst/>
          </a:prstGeom>
          <a:noFill/>
        </p:spPr>
        <p:txBody>
          <a:bodyPr wrap="square" anchor="t" lIns="45720" rIns="45720">
            <a:spAutoFit/>
          </a:bodyPr>
          <a:lstStyle/>
          <a:p>
            <a:pPr algn="l"/>
            <a:r>
              <a:rPr sz="1000" b="1" i="1">
                <a:solidFill>
                  <a:srgbClr val="1B4D1F"/>
                </a:solidFill>
                <a:latin typeface="Arial"/>
              </a:rPr>
              <a:t>Plomberie sanitaire — cas de </a:t>
            </a:r>
            <a:r>
              <a:rPr sz="1000" b="1" i="1">
                <a:solidFill>
                  <a:srgbClr val="E65100"/>
                </a:solidFill>
                <a:latin typeface="Arial"/>
              </a:rPr>
              <a:t>[À COMPLÉTER : SIGLE]</a:t>
            </a:r>
          </a:p>
        </p:txBody>
      </p:sp>
      <p:sp>
        <p:nvSpPr>
          <p:cNvPr id="4" name="TextBox 3"/>
          <p:cNvSpPr txBox="1"/>
          <p:nvPr/>
        </p:nvSpPr>
        <p:spPr>
          <a:xfrm>
            <a:off x="6400800" y="18288"/>
            <a:ext cx="5486400" cy="274320"/>
          </a:xfrm>
          <a:prstGeom prst="rect">
            <a:avLst/>
          </a:prstGeom>
          <a:noFill/>
        </p:spPr>
        <p:txBody>
          <a:bodyPr wrap="none">
            <a:spAutoFit/>
          </a:bodyPr>
          <a:lstStyle/>
          <a:p>
            <a:pPr algn="r"/>
            <a:r>
              <a:rPr sz="1000" b="1" i="0">
                <a:solidFill>
                  <a:srgbClr val="E65100"/>
                </a:solidFill>
                <a:latin typeface="Arial"/>
              </a:rPr>
              <a:t>Introduction</a:t>
            </a:r>
            <a:r>
              <a:rPr sz="1000" b="0" i="0">
                <a:solidFill>
                  <a:srgbClr val="5B6770"/>
                </a:solidFill>
                <a:latin typeface="Arial"/>
              </a:rPr>
              <a:t>  ·  </a:t>
            </a:r>
            <a:r>
              <a:rPr sz="1000" b="0" i="0">
                <a:solidFill>
                  <a:srgbClr val="5B6770"/>
                </a:solidFill>
                <a:latin typeface="Arial"/>
              </a:rPr>
              <a:t>Entreprise</a:t>
            </a:r>
            <a:r>
              <a:rPr sz="1000" b="0" i="0">
                <a:solidFill>
                  <a:srgbClr val="5B6770"/>
                </a:solidFill>
                <a:latin typeface="Arial"/>
              </a:rPr>
              <a:t>  ·  </a:t>
            </a:r>
            <a:r>
              <a:rPr sz="1000" b="0" i="0">
                <a:solidFill>
                  <a:srgbClr val="5B6770"/>
                </a:solidFill>
                <a:latin typeface="Arial"/>
              </a:rPr>
              <a:t>Stage</a:t>
            </a:r>
            <a:r>
              <a:rPr sz="1000" b="0" i="0">
                <a:solidFill>
                  <a:srgbClr val="5B6770"/>
                </a:solidFill>
                <a:latin typeface="Arial"/>
              </a:rPr>
              <a:t>  ·  </a:t>
            </a:r>
            <a:r>
              <a:rPr sz="1000" b="0" i="0">
                <a:solidFill>
                  <a:srgbClr val="5B6770"/>
                </a:solidFill>
                <a:latin typeface="Arial"/>
              </a:rPr>
              <a:t>Plomberie</a:t>
            </a:r>
            <a:r>
              <a:rPr sz="1000" b="0" i="0">
                <a:solidFill>
                  <a:srgbClr val="5B6770"/>
                </a:solidFill>
                <a:latin typeface="Arial"/>
              </a:rPr>
              <a:t>  ·  </a:t>
            </a:r>
            <a:r>
              <a:rPr sz="1000" b="0" i="0">
                <a:solidFill>
                  <a:srgbClr val="5B6770"/>
                </a:solidFill>
                <a:latin typeface="Arial"/>
              </a:rPr>
              <a:t>Critiques</a:t>
            </a:r>
            <a:r>
              <a:rPr sz="1000" b="0" i="0">
                <a:solidFill>
                  <a:srgbClr val="5B6770"/>
                </a:solidFill>
                <a:latin typeface="Arial"/>
              </a:rPr>
              <a:t>  ·  </a:t>
            </a:r>
            <a:r>
              <a:rPr sz="1000" b="0" i="0">
                <a:solidFill>
                  <a:srgbClr val="5B6770"/>
                </a:solidFill>
                <a:latin typeface="Arial"/>
              </a:rPr>
              <a:t>Conclusion</a:t>
            </a:r>
          </a:p>
        </p:txBody>
      </p:sp>
      <p:sp>
        <p:nvSpPr>
          <p:cNvPr id="5" name="TextBox 4"/>
          <p:cNvSpPr txBox="1"/>
          <p:nvPr/>
        </p:nvSpPr>
        <p:spPr>
          <a:xfrm>
            <a:off x="457200" y="457200"/>
            <a:ext cx="11247120" cy="731520"/>
          </a:xfrm>
          <a:prstGeom prst="rect">
            <a:avLst/>
          </a:prstGeom>
          <a:noFill/>
        </p:spPr>
        <p:txBody>
          <a:bodyPr wrap="square" anchor="ctr" lIns="45720" rIns="45720">
            <a:spAutoFit/>
          </a:bodyPr>
          <a:lstStyle/>
          <a:p>
            <a:pPr algn="l"/>
            <a:r>
              <a:rPr sz="2800" b="1" i="0">
                <a:solidFill>
                  <a:srgbClr val="1B4D1F"/>
                </a:solidFill>
                <a:latin typeface="Arial"/>
              </a:rPr>
              <a:t>Contexte et choix du stage</a:t>
            </a:r>
          </a:p>
        </p:txBody>
      </p:sp>
      <p:sp>
        <p:nvSpPr>
          <p:cNvPr id="6" name="Rectangle 5"/>
          <p:cNvSpPr/>
          <p:nvPr/>
        </p:nvSpPr>
        <p:spPr>
          <a:xfrm>
            <a:off x="502920" y="1170432"/>
            <a:ext cx="1188720" cy="640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457200" y="6382512"/>
            <a:ext cx="11292840" cy="0"/>
          </a:xfrm>
          <a:prstGeom prst="line">
            <a:avLst/>
          </a:prstGeom>
          <a:ln>
            <a:solidFill>
              <a:srgbClr val="C8D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19088"/>
            <a:ext cx="8229600" cy="320040"/>
          </a:xfrm>
          <a:prstGeom prst="rect">
            <a:avLst/>
          </a:prstGeom>
          <a:noFill/>
        </p:spPr>
        <p:txBody>
          <a:bodyPr wrap="square" anchor="t" lIns="45720" rIns="45720">
            <a:spAutoFit/>
          </a:bodyPr>
          <a:lstStyle/>
          <a:p>
            <a:pPr algn="l"/>
            <a:r>
              <a:rPr sz="1100" b="1" i="1">
                <a:solidFill>
                  <a:srgbClr val="5B6770"/>
                </a:solidFill>
                <a:latin typeface="Arial"/>
              </a:rPr>
              <a:t>Rédigé et présenté par </a:t>
            </a:r>
            <a:r>
              <a:rPr sz="1100" b="1" i="1">
                <a:solidFill>
                  <a:srgbClr val="E65100"/>
                </a:solidFill>
                <a:latin typeface="Arial"/>
              </a:rPr>
              <a:t>[À COMPLÉTER : NOM Prénom]</a:t>
            </a:r>
            <a:r>
              <a:rPr sz="1100" b="1" i="1">
                <a:solidFill>
                  <a:srgbClr val="5B6770"/>
                </a:solidFill>
                <a:latin typeface="Arial"/>
              </a:rPr>
              <a:t>  —  Froid et climatisation</a:t>
            </a:r>
          </a:p>
        </p:txBody>
      </p:sp>
      <p:sp>
        <p:nvSpPr>
          <p:cNvPr id="9" name="Rectangle 8"/>
          <p:cNvSpPr/>
          <p:nvPr/>
        </p:nvSpPr>
        <p:spPr>
          <a:xfrm>
            <a:off x="457200" y="1463040"/>
            <a:ext cx="3657600" cy="46634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63040"/>
            <a:ext cx="3657600" cy="8229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618488"/>
            <a:ext cx="3383280" cy="411480"/>
          </a:xfrm>
          <a:prstGeom prst="rect">
            <a:avLst/>
          </a:prstGeom>
          <a:noFill/>
        </p:spPr>
        <p:txBody>
          <a:bodyPr wrap="square" anchor="t" lIns="45720" rIns="45720">
            <a:spAutoFit/>
          </a:bodyPr>
          <a:lstStyle/>
          <a:p>
            <a:pPr algn="l"/>
            <a:r>
              <a:rPr sz="1700" b="1" i="0">
                <a:solidFill>
                  <a:srgbClr val="1B4D1F"/>
                </a:solidFill>
                <a:latin typeface="Arial"/>
              </a:rPr>
              <a:t>Contexte</a:t>
            </a:r>
          </a:p>
        </p:txBody>
      </p:sp>
      <p:sp>
        <p:nvSpPr>
          <p:cNvPr id="12" name="TextBox 11"/>
          <p:cNvSpPr txBox="1"/>
          <p:nvPr/>
        </p:nvSpPr>
        <p:spPr>
          <a:xfrm>
            <a:off x="566928" y="2103120"/>
            <a:ext cx="3429000" cy="3931920"/>
          </a:xfrm>
          <a:prstGeom prst="rect">
            <a:avLst/>
          </a:prstGeom>
          <a:noFill/>
        </p:spPr>
        <p:txBody>
          <a:bodyPr wrap="square">
            <a:spAutoFit/>
          </a:bodyPr>
          <a:lstStyle/>
          <a:p>
            <a:pPr>
              <a:spcAft>
                <a:spcPts val="400"/>
              </a:spcAft>
            </a:pPr>
            <a:r>
              <a:rPr sz="1100" b="1" i="0">
                <a:solidFill>
                  <a:srgbClr val="2E7D32"/>
                </a:solidFill>
                <a:latin typeface="Arial"/>
              </a:rPr>
              <a:t>◆  </a:t>
            </a:r>
            <a:r>
              <a:rPr sz="1500" b="0" i="0">
                <a:solidFill>
                  <a:srgbClr val="222B33"/>
                </a:solidFill>
                <a:latin typeface="Arial"/>
              </a:rPr>
              <a:t>Forte croissance de la construction urbaine</a:t>
            </a:r>
          </a:p>
          <a:p>
            <a:pPr>
              <a:spcAft>
                <a:spcPts val="400"/>
              </a:spcAft>
            </a:pPr>
            <a:r>
              <a:rPr sz="1100" b="1" i="0">
                <a:solidFill>
                  <a:srgbClr val="2E7D32"/>
                </a:solidFill>
                <a:latin typeface="Arial"/>
              </a:rPr>
              <a:t>◆  </a:t>
            </a:r>
            <a:r>
              <a:rPr sz="1500" b="0" i="0">
                <a:solidFill>
                  <a:srgbClr val="222B33"/>
                </a:solidFill>
                <a:latin typeface="Arial"/>
              </a:rPr>
              <a:t>Lots techniques : confort, hygiène, sécurité</a:t>
            </a:r>
          </a:p>
          <a:p>
            <a:pPr>
              <a:spcAft>
                <a:spcPts val="400"/>
              </a:spcAft>
            </a:pPr>
            <a:r>
              <a:rPr sz="1100" b="1" i="0">
                <a:solidFill>
                  <a:srgbClr val="2E7D32"/>
                </a:solidFill>
                <a:latin typeface="Arial"/>
              </a:rPr>
              <a:t>◆  </a:t>
            </a:r>
            <a:r>
              <a:rPr sz="1500" b="0" i="0">
                <a:solidFill>
                  <a:srgbClr val="222B33"/>
                </a:solidFill>
                <a:latin typeface="Arial"/>
              </a:rPr>
              <a:t>Demande en techniciens qualifiés</a:t>
            </a:r>
          </a:p>
        </p:txBody>
      </p:sp>
      <p:sp>
        <p:nvSpPr>
          <p:cNvPr id="13" name="Rectangle 12"/>
          <p:cNvSpPr/>
          <p:nvPr/>
        </p:nvSpPr>
        <p:spPr>
          <a:xfrm>
            <a:off x="4270248" y="1463040"/>
            <a:ext cx="3657600" cy="46634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70248" y="1463040"/>
            <a:ext cx="3657600" cy="8229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07408" y="1618488"/>
            <a:ext cx="3383280" cy="411480"/>
          </a:xfrm>
          <a:prstGeom prst="rect">
            <a:avLst/>
          </a:prstGeom>
          <a:noFill/>
        </p:spPr>
        <p:txBody>
          <a:bodyPr wrap="square" anchor="t" lIns="45720" rIns="45720">
            <a:spAutoFit/>
          </a:bodyPr>
          <a:lstStyle/>
          <a:p>
            <a:pPr algn="l"/>
            <a:r>
              <a:rPr sz="1700" b="1" i="0">
                <a:solidFill>
                  <a:srgbClr val="1B4D1F"/>
                </a:solidFill>
                <a:latin typeface="Arial"/>
              </a:rPr>
              <a:t>Pourquoi ce stage ?</a:t>
            </a:r>
          </a:p>
        </p:txBody>
      </p:sp>
      <p:sp>
        <p:nvSpPr>
          <p:cNvPr id="16" name="TextBox 15"/>
          <p:cNvSpPr txBox="1"/>
          <p:nvPr/>
        </p:nvSpPr>
        <p:spPr>
          <a:xfrm>
            <a:off x="4379976" y="2103120"/>
            <a:ext cx="3429000" cy="3931920"/>
          </a:xfrm>
          <a:prstGeom prst="rect">
            <a:avLst/>
          </a:prstGeom>
          <a:noFill/>
        </p:spPr>
        <p:txBody>
          <a:bodyPr wrap="square">
            <a:spAutoFit/>
          </a:bodyPr>
          <a:lstStyle/>
          <a:p>
            <a:pPr>
              <a:spcAft>
                <a:spcPts val="400"/>
              </a:spcAft>
            </a:pPr>
            <a:r>
              <a:rPr sz="1100" b="1" i="0">
                <a:solidFill>
                  <a:srgbClr val="2E7D32"/>
                </a:solidFill>
                <a:latin typeface="Arial"/>
              </a:rPr>
              <a:t>◆  </a:t>
            </a:r>
            <a:r>
              <a:rPr sz="1500" b="0" i="0">
                <a:solidFill>
                  <a:srgbClr val="222B33"/>
                </a:solidFill>
                <a:latin typeface="Arial"/>
              </a:rPr>
              <a:t>Entreprise multi-lots : froid, plomberie, électricité</a:t>
            </a:r>
          </a:p>
          <a:p>
            <a:pPr>
              <a:spcAft>
                <a:spcPts val="400"/>
              </a:spcAft>
            </a:pPr>
            <a:r>
              <a:rPr sz="1100" b="1" i="0">
                <a:solidFill>
                  <a:srgbClr val="2E7D32"/>
                </a:solidFill>
                <a:latin typeface="Arial"/>
              </a:rPr>
              <a:t>◆  </a:t>
            </a:r>
            <a:r>
              <a:rPr sz="1500" b="0" i="0">
                <a:solidFill>
                  <a:srgbClr val="222B33"/>
                </a:solidFill>
                <a:latin typeface="Arial"/>
              </a:rPr>
              <a:t>Grands chantiers d'immeubles</a:t>
            </a:r>
          </a:p>
          <a:p>
            <a:pPr>
              <a:spcAft>
                <a:spcPts val="400"/>
              </a:spcAft>
            </a:pPr>
            <a:r>
              <a:rPr sz="1100" b="1" i="0">
                <a:solidFill>
                  <a:srgbClr val="2E7D32"/>
                </a:solidFill>
                <a:latin typeface="Arial"/>
              </a:rPr>
              <a:t>◆  </a:t>
            </a:r>
            <a:r>
              <a:rPr sz="1500" b="0" i="0">
                <a:solidFill>
                  <a:srgbClr val="222B33"/>
                </a:solidFill>
                <a:latin typeface="Arial"/>
              </a:rPr>
              <a:t>Gestes communs : tubes, assemblages, essais</a:t>
            </a:r>
          </a:p>
        </p:txBody>
      </p:sp>
      <p:sp>
        <p:nvSpPr>
          <p:cNvPr id="17" name="Rectangle 16"/>
          <p:cNvSpPr/>
          <p:nvPr/>
        </p:nvSpPr>
        <p:spPr>
          <a:xfrm>
            <a:off x="8074152" y="1463040"/>
            <a:ext cx="3657600" cy="46634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4152" y="1463040"/>
            <a:ext cx="3657600" cy="82296"/>
          </a:xfrm>
          <a:prstGeom prst="rect">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11312" y="1618488"/>
            <a:ext cx="3383280" cy="411480"/>
          </a:xfrm>
          <a:prstGeom prst="rect">
            <a:avLst/>
          </a:prstGeom>
          <a:noFill/>
        </p:spPr>
        <p:txBody>
          <a:bodyPr wrap="square" anchor="t" lIns="45720" rIns="45720">
            <a:spAutoFit/>
          </a:bodyPr>
          <a:lstStyle/>
          <a:p>
            <a:pPr algn="l"/>
            <a:r>
              <a:rPr sz="1700" b="1" i="0">
                <a:solidFill>
                  <a:srgbClr val="E65100"/>
                </a:solidFill>
                <a:latin typeface="Arial"/>
              </a:rPr>
              <a:t>Le thème</a:t>
            </a:r>
          </a:p>
        </p:txBody>
      </p:sp>
      <p:sp>
        <p:nvSpPr>
          <p:cNvPr id="20" name="TextBox 19"/>
          <p:cNvSpPr txBox="1"/>
          <p:nvPr/>
        </p:nvSpPr>
        <p:spPr>
          <a:xfrm>
            <a:off x="8183879" y="2103120"/>
            <a:ext cx="3429000" cy="3931920"/>
          </a:xfrm>
          <a:prstGeom prst="rect">
            <a:avLst/>
          </a:prstGeom>
          <a:noFill/>
        </p:spPr>
        <p:txBody>
          <a:bodyPr wrap="square">
            <a:spAutoFit/>
          </a:bodyPr>
          <a:lstStyle/>
          <a:p>
            <a:pPr>
              <a:spcAft>
                <a:spcPts val="400"/>
              </a:spcAft>
            </a:pPr>
            <a:r>
              <a:rPr sz="1100" b="1" i="0">
                <a:solidFill>
                  <a:srgbClr val="2E7D32"/>
                </a:solidFill>
                <a:latin typeface="Arial"/>
              </a:rPr>
              <a:t>◆  </a:t>
            </a:r>
            <a:r>
              <a:rPr sz="1500" b="1" i="0">
                <a:solidFill>
                  <a:srgbClr val="1B4D1F"/>
                </a:solidFill>
                <a:latin typeface="Arial"/>
              </a:rPr>
              <a:t>Plomberie sanitaire</a:t>
            </a:r>
            <a:r>
              <a:rPr sz="1500" b="0" i="0">
                <a:solidFill>
                  <a:srgbClr val="222B33"/>
                </a:solidFill>
                <a:latin typeface="Arial"/>
              </a:rPr>
              <a:t> : eau froide et eau chaude</a:t>
            </a:r>
          </a:p>
          <a:p>
            <a:pPr>
              <a:spcAft>
                <a:spcPts val="400"/>
              </a:spcAft>
            </a:pPr>
            <a:r>
              <a:rPr sz="1100" b="1" i="0">
                <a:solidFill>
                  <a:srgbClr val="2E7D32"/>
                </a:solidFill>
                <a:latin typeface="Arial"/>
              </a:rPr>
              <a:t>◆  </a:t>
            </a:r>
            <a:r>
              <a:rPr sz="1500" b="0" i="0">
                <a:solidFill>
                  <a:srgbClr val="222B33"/>
                </a:solidFill>
                <a:latin typeface="Arial"/>
              </a:rPr>
              <a:t>Chantier </a:t>
            </a:r>
            <a:r>
              <a:rPr sz="1500" b="0" i="0">
                <a:solidFill>
                  <a:srgbClr val="E65100"/>
                </a:solidFill>
                <a:latin typeface="Arial"/>
              </a:rPr>
              <a:t>[À COMPLÉTER : Nom du chantier]</a:t>
            </a:r>
          </a:p>
          <a:p>
            <a:pPr>
              <a:spcAft>
                <a:spcPts val="400"/>
              </a:spcAft>
            </a:pPr>
            <a:r>
              <a:rPr sz="1100" b="1" i="0">
                <a:solidFill>
                  <a:srgbClr val="2E7D32"/>
                </a:solidFill>
                <a:latin typeface="Arial"/>
              </a:rPr>
              <a:t>◆  </a:t>
            </a:r>
            <a:r>
              <a:rPr sz="1500" b="0" i="0">
                <a:solidFill>
                  <a:srgbClr val="222B33"/>
                </a:solidFill>
                <a:latin typeface="Arial"/>
              </a:rPr>
              <a:t>Lien direct avec le froid : isolation, condensats, ECS</a:t>
            </a:r>
          </a:p>
        </p:txBody>
      </p:sp>
      <p:sp>
        <p:nvSpPr>
          <p:cNvPr id="21" name="Rectangle 20"/>
          <p:cNvSpPr/>
          <p:nvPr/>
        </p:nvSpPr>
        <p:spPr>
          <a:xfrm>
            <a:off x="10972800" y="6419088"/>
            <a:ext cx="777240"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Arial"/>
              </a:rPr>
              <a:t>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DDE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
            <a:ext cx="8229600" cy="274320"/>
          </a:xfrm>
          <a:prstGeom prst="rect">
            <a:avLst/>
          </a:prstGeom>
          <a:noFill/>
        </p:spPr>
        <p:txBody>
          <a:bodyPr wrap="square" anchor="t" lIns="45720" rIns="45720">
            <a:spAutoFit/>
          </a:bodyPr>
          <a:lstStyle/>
          <a:p>
            <a:pPr algn="l"/>
            <a:r>
              <a:rPr sz="1000" b="1" i="1">
                <a:solidFill>
                  <a:srgbClr val="1B4D1F"/>
                </a:solidFill>
                <a:latin typeface="Arial"/>
              </a:rPr>
              <a:t>Plomberie sanitaire — cas de </a:t>
            </a:r>
            <a:r>
              <a:rPr sz="1000" b="1" i="1">
                <a:solidFill>
                  <a:srgbClr val="E65100"/>
                </a:solidFill>
                <a:latin typeface="Arial"/>
              </a:rPr>
              <a:t>[À COMPLÉTER : SIGLE]</a:t>
            </a:r>
          </a:p>
        </p:txBody>
      </p:sp>
      <p:sp>
        <p:nvSpPr>
          <p:cNvPr id="4" name="TextBox 3"/>
          <p:cNvSpPr txBox="1"/>
          <p:nvPr/>
        </p:nvSpPr>
        <p:spPr>
          <a:xfrm>
            <a:off x="6400800" y="18288"/>
            <a:ext cx="5486400" cy="274320"/>
          </a:xfrm>
          <a:prstGeom prst="rect">
            <a:avLst/>
          </a:prstGeom>
          <a:noFill/>
        </p:spPr>
        <p:txBody>
          <a:bodyPr wrap="none">
            <a:spAutoFit/>
          </a:bodyPr>
          <a:lstStyle/>
          <a:p>
            <a:pPr algn="r"/>
            <a:r>
              <a:rPr sz="1000" b="0" i="0">
                <a:solidFill>
                  <a:srgbClr val="5B6770"/>
                </a:solidFill>
                <a:latin typeface="Arial"/>
              </a:rPr>
              <a:t>Introduction</a:t>
            </a:r>
            <a:r>
              <a:rPr sz="1000" b="0" i="0">
                <a:solidFill>
                  <a:srgbClr val="5B6770"/>
                </a:solidFill>
                <a:latin typeface="Arial"/>
              </a:rPr>
              <a:t>  ·  </a:t>
            </a:r>
            <a:r>
              <a:rPr sz="1000" b="1" i="0">
                <a:solidFill>
                  <a:srgbClr val="E65100"/>
                </a:solidFill>
                <a:latin typeface="Arial"/>
              </a:rPr>
              <a:t>Entreprise</a:t>
            </a:r>
            <a:r>
              <a:rPr sz="1000" b="0" i="0">
                <a:solidFill>
                  <a:srgbClr val="5B6770"/>
                </a:solidFill>
                <a:latin typeface="Arial"/>
              </a:rPr>
              <a:t>  ·  </a:t>
            </a:r>
            <a:r>
              <a:rPr sz="1000" b="0" i="0">
                <a:solidFill>
                  <a:srgbClr val="5B6770"/>
                </a:solidFill>
                <a:latin typeface="Arial"/>
              </a:rPr>
              <a:t>Stage</a:t>
            </a:r>
            <a:r>
              <a:rPr sz="1000" b="0" i="0">
                <a:solidFill>
                  <a:srgbClr val="5B6770"/>
                </a:solidFill>
                <a:latin typeface="Arial"/>
              </a:rPr>
              <a:t>  ·  </a:t>
            </a:r>
            <a:r>
              <a:rPr sz="1000" b="0" i="0">
                <a:solidFill>
                  <a:srgbClr val="5B6770"/>
                </a:solidFill>
                <a:latin typeface="Arial"/>
              </a:rPr>
              <a:t>Plomberie</a:t>
            </a:r>
            <a:r>
              <a:rPr sz="1000" b="0" i="0">
                <a:solidFill>
                  <a:srgbClr val="5B6770"/>
                </a:solidFill>
                <a:latin typeface="Arial"/>
              </a:rPr>
              <a:t>  ·  </a:t>
            </a:r>
            <a:r>
              <a:rPr sz="1000" b="0" i="0">
                <a:solidFill>
                  <a:srgbClr val="5B6770"/>
                </a:solidFill>
                <a:latin typeface="Arial"/>
              </a:rPr>
              <a:t>Critiques</a:t>
            </a:r>
            <a:r>
              <a:rPr sz="1000" b="0" i="0">
                <a:solidFill>
                  <a:srgbClr val="5B6770"/>
                </a:solidFill>
                <a:latin typeface="Arial"/>
              </a:rPr>
              <a:t>  ·  </a:t>
            </a:r>
            <a:r>
              <a:rPr sz="1000" b="0" i="0">
                <a:solidFill>
                  <a:srgbClr val="5B6770"/>
                </a:solidFill>
                <a:latin typeface="Arial"/>
              </a:rPr>
              <a:t>Conclusion</a:t>
            </a:r>
          </a:p>
        </p:txBody>
      </p:sp>
      <p:sp>
        <p:nvSpPr>
          <p:cNvPr id="5" name="TextBox 4"/>
          <p:cNvSpPr txBox="1"/>
          <p:nvPr/>
        </p:nvSpPr>
        <p:spPr>
          <a:xfrm>
            <a:off x="457200" y="457200"/>
            <a:ext cx="11247120" cy="731520"/>
          </a:xfrm>
          <a:prstGeom prst="rect">
            <a:avLst/>
          </a:prstGeom>
          <a:noFill/>
        </p:spPr>
        <p:txBody>
          <a:bodyPr wrap="square" anchor="ctr" lIns="45720" rIns="45720">
            <a:spAutoFit/>
          </a:bodyPr>
          <a:lstStyle/>
          <a:p>
            <a:pPr algn="l"/>
            <a:r>
              <a:rPr sz="2800" b="1" i="0">
                <a:solidFill>
                  <a:srgbClr val="1B4D1F"/>
                </a:solidFill>
                <a:latin typeface="Arial"/>
              </a:rPr>
              <a:t>L'entreprise d'accueil</a:t>
            </a:r>
          </a:p>
        </p:txBody>
      </p:sp>
      <p:sp>
        <p:nvSpPr>
          <p:cNvPr id="6" name="Rectangle 5"/>
          <p:cNvSpPr/>
          <p:nvPr/>
        </p:nvSpPr>
        <p:spPr>
          <a:xfrm>
            <a:off x="502920" y="1170432"/>
            <a:ext cx="1188720" cy="640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457200" y="6382512"/>
            <a:ext cx="11292840" cy="0"/>
          </a:xfrm>
          <a:prstGeom prst="line">
            <a:avLst/>
          </a:prstGeom>
          <a:ln>
            <a:solidFill>
              <a:srgbClr val="C8D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19088"/>
            <a:ext cx="8229600" cy="320040"/>
          </a:xfrm>
          <a:prstGeom prst="rect">
            <a:avLst/>
          </a:prstGeom>
          <a:noFill/>
        </p:spPr>
        <p:txBody>
          <a:bodyPr wrap="square" anchor="t" lIns="45720" rIns="45720">
            <a:spAutoFit/>
          </a:bodyPr>
          <a:lstStyle/>
          <a:p>
            <a:pPr algn="l"/>
            <a:r>
              <a:rPr sz="1100" b="1" i="1">
                <a:solidFill>
                  <a:srgbClr val="5B6770"/>
                </a:solidFill>
                <a:latin typeface="Arial"/>
              </a:rPr>
              <a:t>Rédigé et présenté par </a:t>
            </a:r>
            <a:r>
              <a:rPr sz="1100" b="1" i="1">
                <a:solidFill>
                  <a:srgbClr val="E65100"/>
                </a:solidFill>
                <a:latin typeface="Arial"/>
              </a:rPr>
              <a:t>[À COMPLÉTER : NOM Prénom]</a:t>
            </a:r>
            <a:r>
              <a:rPr sz="1100" b="1" i="1">
                <a:solidFill>
                  <a:srgbClr val="5B6770"/>
                </a:solidFill>
                <a:latin typeface="Arial"/>
              </a:rPr>
              <a:t>  —  Froid et climatisation</a:t>
            </a:r>
          </a:p>
        </p:txBody>
      </p:sp>
      <p:sp>
        <p:nvSpPr>
          <p:cNvPr id="9" name="TextBox 8"/>
          <p:cNvSpPr txBox="1"/>
          <p:nvPr/>
        </p:nvSpPr>
        <p:spPr>
          <a:xfrm>
            <a:off x="457200" y="1371600"/>
            <a:ext cx="11247120" cy="731520"/>
          </a:xfrm>
          <a:prstGeom prst="rect">
            <a:avLst/>
          </a:prstGeom>
          <a:noFill/>
        </p:spPr>
        <p:txBody>
          <a:bodyPr wrap="square" anchor="t" lIns="45720" rIns="45720">
            <a:spAutoFit/>
          </a:bodyPr>
          <a:lstStyle/>
          <a:p>
            <a:pPr algn="l"/>
            <a:r>
              <a:rPr sz="1600" b="1" i="0">
                <a:solidFill>
                  <a:srgbClr val="E65100"/>
                </a:solidFill>
                <a:latin typeface="Arial"/>
              </a:rPr>
              <a:t>[À COMPLÉTER : Raison sociale de l'entreprise]</a:t>
            </a:r>
            <a:r>
              <a:rPr sz="1600" b="1" i="0">
                <a:solidFill>
                  <a:srgbClr val="1B4D1F"/>
                </a:solidFill>
                <a:latin typeface="Arial"/>
              </a:rPr>
              <a:t> (</a:t>
            </a:r>
            <a:r>
              <a:rPr sz="1600" b="1" i="0">
                <a:solidFill>
                  <a:srgbClr val="E65100"/>
                </a:solidFill>
                <a:latin typeface="Arial"/>
              </a:rPr>
              <a:t>[À COMPLÉTER : SIGLE]</a:t>
            </a:r>
            <a:r>
              <a:rPr sz="1600" b="1" i="0">
                <a:solidFill>
                  <a:srgbClr val="1B4D1F"/>
                </a:solidFill>
                <a:latin typeface="Arial"/>
              </a:rPr>
              <a:t>) — SARL créée en </a:t>
            </a:r>
            <a:r>
              <a:rPr sz="1600" b="1" i="0">
                <a:solidFill>
                  <a:srgbClr val="E65100"/>
                </a:solidFill>
                <a:latin typeface="Arial"/>
              </a:rPr>
              <a:t>[À COMPLÉTER : année de création]</a:t>
            </a:r>
            <a:r>
              <a:rPr sz="1600" b="1" i="0">
                <a:solidFill>
                  <a:srgbClr val="1B4D1F"/>
                </a:solidFill>
                <a:latin typeface="Arial"/>
              </a:rPr>
              <a:t>, siège à </a:t>
            </a:r>
            <a:r>
              <a:rPr sz="1600" b="1" i="0">
                <a:solidFill>
                  <a:srgbClr val="E65100"/>
                </a:solidFill>
                <a:latin typeface="Arial"/>
              </a:rPr>
              <a:t>[À COMPLÉTER : Ville]</a:t>
            </a:r>
          </a:p>
        </p:txBody>
      </p:sp>
      <p:sp>
        <p:nvSpPr>
          <p:cNvPr id="10" name="Rectangle 9"/>
          <p:cNvSpPr/>
          <p:nvPr/>
        </p:nvSpPr>
        <p:spPr>
          <a:xfrm>
            <a:off x="457200" y="2240280"/>
            <a:ext cx="2103120" cy="14630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240280"/>
            <a:ext cx="2103120" cy="7315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395728"/>
            <a:ext cx="1920240" cy="411480"/>
          </a:xfrm>
          <a:prstGeom prst="rect">
            <a:avLst/>
          </a:prstGeom>
          <a:noFill/>
        </p:spPr>
        <p:txBody>
          <a:bodyPr wrap="square" anchor="t" lIns="45720" rIns="45720">
            <a:spAutoFit/>
          </a:bodyPr>
          <a:lstStyle/>
          <a:p>
            <a:pPr algn="ctr"/>
            <a:r>
              <a:rPr sz="1700" b="1" i="0">
                <a:solidFill>
                  <a:srgbClr val="1B4D1F"/>
                </a:solidFill>
                <a:latin typeface="Arial"/>
              </a:rPr>
              <a:t>Climatisation</a:t>
            </a:r>
          </a:p>
        </p:txBody>
      </p:sp>
      <p:sp>
        <p:nvSpPr>
          <p:cNvPr id="13" name="TextBox 12"/>
          <p:cNvSpPr txBox="1"/>
          <p:nvPr/>
        </p:nvSpPr>
        <p:spPr>
          <a:xfrm>
            <a:off x="548640" y="2834640"/>
            <a:ext cx="1920240" cy="822960"/>
          </a:xfrm>
          <a:prstGeom prst="rect">
            <a:avLst/>
          </a:prstGeom>
          <a:noFill/>
        </p:spPr>
        <p:txBody>
          <a:bodyPr wrap="square" anchor="t" lIns="45720" rIns="45720">
            <a:spAutoFit/>
          </a:bodyPr>
          <a:lstStyle/>
          <a:p>
            <a:pPr algn="ctr"/>
            <a:r>
              <a:rPr sz="1300" b="0" i="0">
                <a:solidFill>
                  <a:srgbClr val="222B33"/>
                </a:solidFill>
                <a:latin typeface="Arial"/>
              </a:rPr>
              <a:t>split, cassette, DRV, ventilation</a:t>
            </a:r>
          </a:p>
        </p:txBody>
      </p:sp>
      <p:sp>
        <p:nvSpPr>
          <p:cNvPr id="14" name="Rectangle 13"/>
          <p:cNvSpPr/>
          <p:nvPr/>
        </p:nvSpPr>
        <p:spPr>
          <a:xfrm>
            <a:off x="2743200" y="2240280"/>
            <a:ext cx="2103120" cy="14630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0" y="2240280"/>
            <a:ext cx="2103120" cy="7315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34640" y="2395728"/>
            <a:ext cx="1920240" cy="411480"/>
          </a:xfrm>
          <a:prstGeom prst="rect">
            <a:avLst/>
          </a:prstGeom>
          <a:noFill/>
        </p:spPr>
        <p:txBody>
          <a:bodyPr wrap="square" anchor="t" lIns="45720" rIns="45720">
            <a:spAutoFit/>
          </a:bodyPr>
          <a:lstStyle/>
          <a:p>
            <a:pPr algn="ctr"/>
            <a:r>
              <a:rPr sz="1700" b="1" i="0">
                <a:solidFill>
                  <a:srgbClr val="1B4D1F"/>
                </a:solidFill>
                <a:latin typeface="Arial"/>
              </a:rPr>
              <a:t>Froid</a:t>
            </a:r>
          </a:p>
        </p:txBody>
      </p:sp>
      <p:sp>
        <p:nvSpPr>
          <p:cNvPr id="17" name="TextBox 16"/>
          <p:cNvSpPr txBox="1"/>
          <p:nvPr/>
        </p:nvSpPr>
        <p:spPr>
          <a:xfrm>
            <a:off x="2834640" y="2834640"/>
            <a:ext cx="1920240" cy="822960"/>
          </a:xfrm>
          <a:prstGeom prst="rect">
            <a:avLst/>
          </a:prstGeom>
          <a:noFill/>
        </p:spPr>
        <p:txBody>
          <a:bodyPr wrap="square" anchor="t" lIns="45720" rIns="45720">
            <a:spAutoFit/>
          </a:bodyPr>
          <a:lstStyle/>
          <a:p>
            <a:pPr algn="ctr"/>
            <a:r>
              <a:rPr sz="1300" b="0" i="0">
                <a:solidFill>
                  <a:srgbClr val="222B33"/>
                </a:solidFill>
                <a:latin typeface="Arial"/>
              </a:rPr>
              <a:t>chambres froides, maintenance</a:t>
            </a:r>
          </a:p>
        </p:txBody>
      </p:sp>
      <p:sp>
        <p:nvSpPr>
          <p:cNvPr id="18" name="Rectangle 17"/>
          <p:cNvSpPr/>
          <p:nvPr/>
        </p:nvSpPr>
        <p:spPr>
          <a:xfrm>
            <a:off x="5029200" y="2240280"/>
            <a:ext cx="2103120" cy="14630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0" y="2240280"/>
            <a:ext cx="2103120" cy="73152"/>
          </a:xfrm>
          <a:prstGeom prst="rect">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20640" y="2395728"/>
            <a:ext cx="1920240" cy="411480"/>
          </a:xfrm>
          <a:prstGeom prst="rect">
            <a:avLst/>
          </a:prstGeom>
          <a:noFill/>
        </p:spPr>
        <p:txBody>
          <a:bodyPr wrap="square" anchor="t" lIns="45720" rIns="45720">
            <a:spAutoFit/>
          </a:bodyPr>
          <a:lstStyle/>
          <a:p>
            <a:pPr algn="ctr"/>
            <a:r>
              <a:rPr sz="1700" b="1" i="0">
                <a:solidFill>
                  <a:srgbClr val="1B4D1F"/>
                </a:solidFill>
                <a:latin typeface="Arial"/>
              </a:rPr>
              <a:t>Plomberie</a:t>
            </a:r>
          </a:p>
        </p:txBody>
      </p:sp>
      <p:sp>
        <p:nvSpPr>
          <p:cNvPr id="21" name="TextBox 20"/>
          <p:cNvSpPr txBox="1"/>
          <p:nvPr/>
        </p:nvSpPr>
        <p:spPr>
          <a:xfrm>
            <a:off x="5120640" y="2834640"/>
            <a:ext cx="1920240" cy="822960"/>
          </a:xfrm>
          <a:prstGeom prst="rect">
            <a:avLst/>
          </a:prstGeom>
          <a:noFill/>
        </p:spPr>
        <p:txBody>
          <a:bodyPr wrap="square" anchor="t" lIns="45720" rIns="45720">
            <a:spAutoFit/>
          </a:bodyPr>
          <a:lstStyle/>
          <a:p>
            <a:pPr algn="ctr"/>
            <a:r>
              <a:rPr sz="1300" b="0" i="0">
                <a:solidFill>
                  <a:srgbClr val="222B33"/>
                </a:solidFill>
                <a:latin typeface="Arial"/>
              </a:rPr>
              <a:t>EF, ECS, évacuations, surpresseurs</a:t>
            </a:r>
          </a:p>
        </p:txBody>
      </p:sp>
      <p:sp>
        <p:nvSpPr>
          <p:cNvPr id="22" name="Rectangle 21"/>
          <p:cNvSpPr/>
          <p:nvPr/>
        </p:nvSpPr>
        <p:spPr>
          <a:xfrm>
            <a:off x="7315200" y="2240280"/>
            <a:ext cx="2103120" cy="14630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315200" y="2240280"/>
            <a:ext cx="2103120" cy="7315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06640" y="2395728"/>
            <a:ext cx="1920240" cy="411480"/>
          </a:xfrm>
          <a:prstGeom prst="rect">
            <a:avLst/>
          </a:prstGeom>
          <a:noFill/>
        </p:spPr>
        <p:txBody>
          <a:bodyPr wrap="square" anchor="t" lIns="45720" rIns="45720">
            <a:spAutoFit/>
          </a:bodyPr>
          <a:lstStyle/>
          <a:p>
            <a:pPr algn="ctr"/>
            <a:r>
              <a:rPr sz="1700" b="1" i="0">
                <a:solidFill>
                  <a:srgbClr val="1B4D1F"/>
                </a:solidFill>
                <a:latin typeface="Arial"/>
              </a:rPr>
              <a:t>Électricité</a:t>
            </a:r>
          </a:p>
        </p:txBody>
      </p:sp>
      <p:sp>
        <p:nvSpPr>
          <p:cNvPr id="25" name="TextBox 24"/>
          <p:cNvSpPr txBox="1"/>
          <p:nvPr/>
        </p:nvSpPr>
        <p:spPr>
          <a:xfrm>
            <a:off x="7406640" y="2834640"/>
            <a:ext cx="1920240" cy="822960"/>
          </a:xfrm>
          <a:prstGeom prst="rect">
            <a:avLst/>
          </a:prstGeom>
          <a:noFill/>
        </p:spPr>
        <p:txBody>
          <a:bodyPr wrap="square" anchor="t" lIns="45720" rIns="45720">
            <a:spAutoFit/>
          </a:bodyPr>
          <a:lstStyle/>
          <a:p>
            <a:pPr algn="ctr"/>
            <a:r>
              <a:rPr sz="1300" b="0" i="0">
                <a:solidFill>
                  <a:srgbClr val="222B33"/>
                </a:solidFill>
                <a:latin typeface="Arial"/>
              </a:rPr>
              <a:t>courants forts et faibles</a:t>
            </a:r>
          </a:p>
        </p:txBody>
      </p:sp>
      <p:sp>
        <p:nvSpPr>
          <p:cNvPr id="26" name="Rectangle 25"/>
          <p:cNvSpPr/>
          <p:nvPr/>
        </p:nvSpPr>
        <p:spPr>
          <a:xfrm>
            <a:off x="9601200" y="2240280"/>
            <a:ext cx="2103120" cy="14630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601200" y="2240280"/>
            <a:ext cx="2103120" cy="7315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92640" y="2395728"/>
            <a:ext cx="1920240" cy="411480"/>
          </a:xfrm>
          <a:prstGeom prst="rect">
            <a:avLst/>
          </a:prstGeom>
          <a:noFill/>
        </p:spPr>
        <p:txBody>
          <a:bodyPr wrap="square" anchor="t" lIns="45720" rIns="45720">
            <a:spAutoFit/>
          </a:bodyPr>
          <a:lstStyle/>
          <a:p>
            <a:pPr algn="ctr"/>
            <a:r>
              <a:rPr sz="1700" b="1" i="0">
                <a:solidFill>
                  <a:srgbClr val="1B4D1F"/>
                </a:solidFill>
                <a:latin typeface="Arial"/>
              </a:rPr>
              <a:t>Incendie</a:t>
            </a:r>
          </a:p>
        </p:txBody>
      </p:sp>
      <p:sp>
        <p:nvSpPr>
          <p:cNvPr id="29" name="TextBox 28"/>
          <p:cNvSpPr txBox="1"/>
          <p:nvPr/>
        </p:nvSpPr>
        <p:spPr>
          <a:xfrm>
            <a:off x="9692640" y="2834640"/>
            <a:ext cx="1920240" cy="822960"/>
          </a:xfrm>
          <a:prstGeom prst="rect">
            <a:avLst/>
          </a:prstGeom>
          <a:noFill/>
        </p:spPr>
        <p:txBody>
          <a:bodyPr wrap="square" anchor="t" lIns="45720" rIns="45720">
            <a:spAutoFit/>
          </a:bodyPr>
          <a:lstStyle/>
          <a:p>
            <a:pPr algn="ctr"/>
            <a:r>
              <a:rPr sz="1300" b="0" i="0">
                <a:solidFill>
                  <a:srgbClr val="222B33"/>
                </a:solidFill>
                <a:latin typeface="Arial"/>
              </a:rPr>
              <a:t>détection, extinction, RIA</a:t>
            </a:r>
          </a:p>
        </p:txBody>
      </p:sp>
      <p:sp>
        <p:nvSpPr>
          <p:cNvPr id="30" name="Rectangle 29"/>
          <p:cNvSpPr/>
          <p:nvPr/>
        </p:nvSpPr>
        <p:spPr>
          <a:xfrm>
            <a:off x="457200" y="3931920"/>
            <a:ext cx="5532120" cy="224028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3931920"/>
            <a:ext cx="5532120" cy="8229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 y="4087368"/>
            <a:ext cx="5257800" cy="411480"/>
          </a:xfrm>
          <a:prstGeom prst="rect">
            <a:avLst/>
          </a:prstGeom>
          <a:noFill/>
        </p:spPr>
        <p:txBody>
          <a:bodyPr wrap="square" anchor="t" lIns="45720" rIns="45720">
            <a:spAutoFit/>
          </a:bodyPr>
          <a:lstStyle/>
          <a:p>
            <a:pPr algn="l"/>
            <a:r>
              <a:rPr sz="1700" b="1" i="0">
                <a:solidFill>
                  <a:srgbClr val="1B4D1F"/>
                </a:solidFill>
                <a:latin typeface="Arial"/>
              </a:rPr>
              <a:t>Forces</a:t>
            </a:r>
          </a:p>
        </p:txBody>
      </p:sp>
      <p:sp>
        <p:nvSpPr>
          <p:cNvPr id="33" name="TextBox 32"/>
          <p:cNvSpPr txBox="1"/>
          <p:nvPr/>
        </p:nvSpPr>
        <p:spPr>
          <a:xfrm>
            <a:off x="566928" y="4572000"/>
            <a:ext cx="5303520" cy="1508760"/>
          </a:xfrm>
          <a:prstGeom prst="rect">
            <a:avLst/>
          </a:prstGeom>
          <a:noFill/>
        </p:spPr>
        <p:txBody>
          <a:bodyPr wrap="square">
            <a:spAutoFit/>
          </a:bodyPr>
          <a:lstStyle/>
          <a:p>
            <a:pPr>
              <a:spcAft>
                <a:spcPts val="400"/>
              </a:spcAft>
            </a:pPr>
            <a:r>
              <a:rPr sz="1000" b="1" i="0">
                <a:solidFill>
                  <a:srgbClr val="2E7D32"/>
                </a:solidFill>
                <a:latin typeface="Arial"/>
              </a:rPr>
              <a:t>◆  </a:t>
            </a:r>
            <a:r>
              <a:rPr sz="1400" b="0" i="0">
                <a:solidFill>
                  <a:srgbClr val="222B33"/>
                </a:solidFill>
                <a:latin typeface="Arial"/>
              </a:rPr>
              <a:t>Offre multi-lots, interlocuteur unique</a:t>
            </a:r>
          </a:p>
          <a:p>
            <a:pPr>
              <a:spcAft>
                <a:spcPts val="400"/>
              </a:spcAft>
            </a:pPr>
            <a:r>
              <a:rPr sz="1000" b="1" i="0">
                <a:solidFill>
                  <a:srgbClr val="2E7D32"/>
                </a:solidFill>
                <a:latin typeface="Arial"/>
              </a:rPr>
              <a:t>◆  </a:t>
            </a:r>
            <a:r>
              <a:rPr sz="1400" b="0" i="0">
                <a:solidFill>
                  <a:srgbClr val="222B33"/>
                </a:solidFill>
                <a:latin typeface="Arial"/>
              </a:rPr>
              <a:t>Personnel expérimenté, grands chantiers</a:t>
            </a:r>
          </a:p>
          <a:p>
            <a:pPr>
              <a:spcAft>
                <a:spcPts val="400"/>
              </a:spcAft>
            </a:pPr>
            <a:r>
              <a:rPr sz="1000" b="1" i="0">
                <a:solidFill>
                  <a:srgbClr val="2E7D32"/>
                </a:solidFill>
                <a:latin typeface="Arial"/>
              </a:rPr>
              <a:t>◆  </a:t>
            </a:r>
            <a:r>
              <a:rPr sz="1400" b="0" i="0">
                <a:solidFill>
                  <a:srgbClr val="222B33"/>
                </a:solidFill>
                <a:latin typeface="Arial"/>
              </a:rPr>
              <a:t>Activité de maintenance</a:t>
            </a:r>
          </a:p>
        </p:txBody>
      </p:sp>
      <p:sp>
        <p:nvSpPr>
          <p:cNvPr id="34" name="Rectangle 33"/>
          <p:cNvSpPr/>
          <p:nvPr/>
        </p:nvSpPr>
        <p:spPr>
          <a:xfrm>
            <a:off x="6172200" y="3931920"/>
            <a:ext cx="5532120" cy="224028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72200" y="3931920"/>
            <a:ext cx="5532120" cy="82296"/>
          </a:xfrm>
          <a:prstGeom prst="rect">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087368"/>
            <a:ext cx="5257800" cy="411480"/>
          </a:xfrm>
          <a:prstGeom prst="rect">
            <a:avLst/>
          </a:prstGeom>
          <a:noFill/>
        </p:spPr>
        <p:txBody>
          <a:bodyPr wrap="square" anchor="t" lIns="45720" rIns="45720">
            <a:spAutoFit/>
          </a:bodyPr>
          <a:lstStyle/>
          <a:p>
            <a:pPr algn="l"/>
            <a:r>
              <a:rPr sz="1700" b="1" i="0">
                <a:solidFill>
                  <a:srgbClr val="E65100"/>
                </a:solidFill>
                <a:latin typeface="Arial"/>
              </a:rPr>
              <a:t>Faiblesses et menaces</a:t>
            </a:r>
          </a:p>
        </p:txBody>
      </p:sp>
      <p:sp>
        <p:nvSpPr>
          <p:cNvPr id="37" name="TextBox 36"/>
          <p:cNvSpPr txBox="1"/>
          <p:nvPr/>
        </p:nvSpPr>
        <p:spPr>
          <a:xfrm>
            <a:off x="6281928" y="4572000"/>
            <a:ext cx="5303520" cy="1508760"/>
          </a:xfrm>
          <a:prstGeom prst="rect">
            <a:avLst/>
          </a:prstGeom>
          <a:noFill/>
        </p:spPr>
        <p:txBody>
          <a:bodyPr wrap="square">
            <a:spAutoFit/>
          </a:bodyPr>
          <a:lstStyle/>
          <a:p>
            <a:pPr>
              <a:spcAft>
                <a:spcPts val="400"/>
              </a:spcAft>
            </a:pPr>
            <a:r>
              <a:rPr sz="1000" b="1" i="0">
                <a:solidFill>
                  <a:srgbClr val="2E7D32"/>
                </a:solidFill>
                <a:latin typeface="Arial"/>
              </a:rPr>
              <a:t>◆  </a:t>
            </a:r>
            <a:r>
              <a:rPr sz="1400" b="0" i="0">
                <a:solidFill>
                  <a:srgbClr val="222B33"/>
                </a:solidFill>
                <a:latin typeface="Arial"/>
              </a:rPr>
              <a:t>Logistique et stocks perfectibles</a:t>
            </a:r>
          </a:p>
          <a:p>
            <a:pPr>
              <a:spcAft>
                <a:spcPts val="400"/>
              </a:spcAft>
            </a:pPr>
            <a:r>
              <a:rPr sz="1000" b="1" i="0">
                <a:solidFill>
                  <a:srgbClr val="2E7D32"/>
                </a:solidFill>
                <a:latin typeface="Arial"/>
              </a:rPr>
              <a:t>◆  </a:t>
            </a:r>
            <a:r>
              <a:rPr sz="1400" b="0" i="0">
                <a:solidFill>
                  <a:srgbClr val="222B33"/>
                </a:solidFill>
                <a:latin typeface="Arial"/>
              </a:rPr>
              <a:t>Sécurité peu formalisée</a:t>
            </a:r>
          </a:p>
          <a:p>
            <a:pPr>
              <a:spcAft>
                <a:spcPts val="400"/>
              </a:spcAft>
            </a:pPr>
            <a:r>
              <a:rPr sz="1000" b="1" i="0">
                <a:solidFill>
                  <a:srgbClr val="2E7D32"/>
                </a:solidFill>
                <a:latin typeface="Arial"/>
              </a:rPr>
              <a:t>◆  </a:t>
            </a:r>
            <a:r>
              <a:rPr sz="1400" b="0" i="0">
                <a:solidFill>
                  <a:srgbClr val="222B33"/>
                </a:solidFill>
                <a:latin typeface="Arial"/>
              </a:rPr>
              <a:t>Concurrence informelle, coût des importations</a:t>
            </a:r>
          </a:p>
        </p:txBody>
      </p:sp>
      <p:sp>
        <p:nvSpPr>
          <p:cNvPr id="38" name="Rectangle 37"/>
          <p:cNvSpPr/>
          <p:nvPr/>
        </p:nvSpPr>
        <p:spPr>
          <a:xfrm>
            <a:off x="10972800" y="6419088"/>
            <a:ext cx="777240"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Arial"/>
              </a:rPr>
              <a:t>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DDE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
            <a:ext cx="8229600" cy="274320"/>
          </a:xfrm>
          <a:prstGeom prst="rect">
            <a:avLst/>
          </a:prstGeom>
          <a:noFill/>
        </p:spPr>
        <p:txBody>
          <a:bodyPr wrap="square" anchor="t" lIns="45720" rIns="45720">
            <a:spAutoFit/>
          </a:bodyPr>
          <a:lstStyle/>
          <a:p>
            <a:pPr algn="l"/>
            <a:r>
              <a:rPr sz="1000" b="1" i="1">
                <a:solidFill>
                  <a:srgbClr val="1B4D1F"/>
                </a:solidFill>
                <a:latin typeface="Arial"/>
              </a:rPr>
              <a:t>Plomberie sanitaire — cas de </a:t>
            </a:r>
            <a:r>
              <a:rPr sz="1000" b="1" i="1">
                <a:solidFill>
                  <a:srgbClr val="E65100"/>
                </a:solidFill>
                <a:latin typeface="Arial"/>
              </a:rPr>
              <a:t>[À COMPLÉTER : SIGLE]</a:t>
            </a:r>
          </a:p>
        </p:txBody>
      </p:sp>
      <p:sp>
        <p:nvSpPr>
          <p:cNvPr id="4" name="TextBox 3"/>
          <p:cNvSpPr txBox="1"/>
          <p:nvPr/>
        </p:nvSpPr>
        <p:spPr>
          <a:xfrm>
            <a:off x="6400800" y="18288"/>
            <a:ext cx="5486400" cy="274320"/>
          </a:xfrm>
          <a:prstGeom prst="rect">
            <a:avLst/>
          </a:prstGeom>
          <a:noFill/>
        </p:spPr>
        <p:txBody>
          <a:bodyPr wrap="none">
            <a:spAutoFit/>
          </a:bodyPr>
          <a:lstStyle/>
          <a:p>
            <a:pPr algn="r"/>
            <a:r>
              <a:rPr sz="1000" b="0" i="0">
                <a:solidFill>
                  <a:srgbClr val="5B6770"/>
                </a:solidFill>
                <a:latin typeface="Arial"/>
              </a:rPr>
              <a:t>Introduction</a:t>
            </a:r>
            <a:r>
              <a:rPr sz="1000" b="0" i="0">
                <a:solidFill>
                  <a:srgbClr val="5B6770"/>
                </a:solidFill>
                <a:latin typeface="Arial"/>
              </a:rPr>
              <a:t>  ·  </a:t>
            </a:r>
            <a:r>
              <a:rPr sz="1000" b="1" i="0">
                <a:solidFill>
                  <a:srgbClr val="E65100"/>
                </a:solidFill>
                <a:latin typeface="Arial"/>
              </a:rPr>
              <a:t>Entreprise</a:t>
            </a:r>
            <a:r>
              <a:rPr sz="1000" b="0" i="0">
                <a:solidFill>
                  <a:srgbClr val="5B6770"/>
                </a:solidFill>
                <a:latin typeface="Arial"/>
              </a:rPr>
              <a:t>  ·  </a:t>
            </a:r>
            <a:r>
              <a:rPr sz="1000" b="0" i="0">
                <a:solidFill>
                  <a:srgbClr val="5B6770"/>
                </a:solidFill>
                <a:latin typeface="Arial"/>
              </a:rPr>
              <a:t>Stage</a:t>
            </a:r>
            <a:r>
              <a:rPr sz="1000" b="0" i="0">
                <a:solidFill>
                  <a:srgbClr val="5B6770"/>
                </a:solidFill>
                <a:latin typeface="Arial"/>
              </a:rPr>
              <a:t>  ·  </a:t>
            </a:r>
            <a:r>
              <a:rPr sz="1000" b="0" i="0">
                <a:solidFill>
                  <a:srgbClr val="5B6770"/>
                </a:solidFill>
                <a:latin typeface="Arial"/>
              </a:rPr>
              <a:t>Plomberie</a:t>
            </a:r>
            <a:r>
              <a:rPr sz="1000" b="0" i="0">
                <a:solidFill>
                  <a:srgbClr val="5B6770"/>
                </a:solidFill>
                <a:latin typeface="Arial"/>
              </a:rPr>
              <a:t>  ·  </a:t>
            </a:r>
            <a:r>
              <a:rPr sz="1000" b="0" i="0">
                <a:solidFill>
                  <a:srgbClr val="5B6770"/>
                </a:solidFill>
                <a:latin typeface="Arial"/>
              </a:rPr>
              <a:t>Critiques</a:t>
            </a:r>
            <a:r>
              <a:rPr sz="1000" b="0" i="0">
                <a:solidFill>
                  <a:srgbClr val="5B6770"/>
                </a:solidFill>
                <a:latin typeface="Arial"/>
              </a:rPr>
              <a:t>  ·  </a:t>
            </a:r>
            <a:r>
              <a:rPr sz="1000" b="0" i="0">
                <a:solidFill>
                  <a:srgbClr val="5B6770"/>
                </a:solidFill>
                <a:latin typeface="Arial"/>
              </a:rPr>
              <a:t>Conclusion</a:t>
            </a:r>
          </a:p>
        </p:txBody>
      </p:sp>
      <p:sp>
        <p:nvSpPr>
          <p:cNvPr id="5" name="TextBox 4"/>
          <p:cNvSpPr txBox="1"/>
          <p:nvPr/>
        </p:nvSpPr>
        <p:spPr>
          <a:xfrm>
            <a:off x="457200" y="457200"/>
            <a:ext cx="11247120" cy="731520"/>
          </a:xfrm>
          <a:prstGeom prst="rect">
            <a:avLst/>
          </a:prstGeom>
          <a:noFill/>
        </p:spPr>
        <p:txBody>
          <a:bodyPr wrap="square" anchor="ctr" lIns="45720" rIns="45720">
            <a:spAutoFit/>
          </a:bodyPr>
          <a:lstStyle/>
          <a:p>
            <a:pPr algn="l"/>
            <a:r>
              <a:rPr sz="2800" b="1" i="0">
                <a:solidFill>
                  <a:srgbClr val="1B4D1F"/>
                </a:solidFill>
                <a:latin typeface="Arial"/>
              </a:rPr>
              <a:t>Organisation et poste occupé</a:t>
            </a:r>
          </a:p>
        </p:txBody>
      </p:sp>
      <p:sp>
        <p:nvSpPr>
          <p:cNvPr id="6" name="Rectangle 5"/>
          <p:cNvSpPr/>
          <p:nvPr/>
        </p:nvSpPr>
        <p:spPr>
          <a:xfrm>
            <a:off x="502920" y="1170432"/>
            <a:ext cx="1188720" cy="640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457200" y="6382512"/>
            <a:ext cx="11292840" cy="0"/>
          </a:xfrm>
          <a:prstGeom prst="line">
            <a:avLst/>
          </a:prstGeom>
          <a:ln>
            <a:solidFill>
              <a:srgbClr val="C8D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19088"/>
            <a:ext cx="8229600" cy="320040"/>
          </a:xfrm>
          <a:prstGeom prst="rect">
            <a:avLst/>
          </a:prstGeom>
          <a:noFill/>
        </p:spPr>
        <p:txBody>
          <a:bodyPr wrap="square" anchor="t" lIns="45720" rIns="45720">
            <a:spAutoFit/>
          </a:bodyPr>
          <a:lstStyle/>
          <a:p>
            <a:pPr algn="l"/>
            <a:r>
              <a:rPr sz="1100" b="1" i="1">
                <a:solidFill>
                  <a:srgbClr val="5B6770"/>
                </a:solidFill>
                <a:latin typeface="Arial"/>
              </a:rPr>
              <a:t>Rédigé et présenté par </a:t>
            </a:r>
            <a:r>
              <a:rPr sz="1100" b="1" i="1">
                <a:solidFill>
                  <a:srgbClr val="E65100"/>
                </a:solidFill>
                <a:latin typeface="Arial"/>
              </a:rPr>
              <a:t>[À COMPLÉTER : NOM Prénom]</a:t>
            </a:r>
            <a:r>
              <a:rPr sz="1100" b="1" i="1">
                <a:solidFill>
                  <a:srgbClr val="5B6770"/>
                </a:solidFill>
                <a:latin typeface="Arial"/>
              </a:rPr>
              <a:t>  —  Froid et climatisation</a:t>
            </a:r>
          </a:p>
        </p:txBody>
      </p:sp>
      <p:pic>
        <p:nvPicPr>
          <p:cNvPr id="9" name="Picture 8" descr="organigramme.png"/>
          <p:cNvPicPr>
            <a:picLocks noChangeAspect="1"/>
          </p:cNvPicPr>
          <p:nvPr/>
        </p:nvPicPr>
        <p:blipFill>
          <a:blip r:embed="rId3"/>
          <a:stretch>
            <a:fillRect/>
          </a:stretch>
        </p:blipFill>
        <p:spPr>
          <a:xfrm>
            <a:off x="365760" y="1441243"/>
            <a:ext cx="7680960" cy="4707032"/>
          </a:xfrm>
          <a:prstGeom prst="rect">
            <a:avLst/>
          </a:prstGeom>
        </p:spPr>
      </p:pic>
      <p:sp>
        <p:nvSpPr>
          <p:cNvPr id="10" name="Rectangle 9"/>
          <p:cNvSpPr/>
          <p:nvPr/>
        </p:nvSpPr>
        <p:spPr>
          <a:xfrm>
            <a:off x="8229600" y="1463040"/>
            <a:ext cx="3520440" cy="46634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600" y="1463040"/>
            <a:ext cx="3520440" cy="8229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66760" y="1618488"/>
            <a:ext cx="3246120" cy="411480"/>
          </a:xfrm>
          <a:prstGeom prst="rect">
            <a:avLst/>
          </a:prstGeom>
          <a:noFill/>
        </p:spPr>
        <p:txBody>
          <a:bodyPr wrap="square" anchor="t" lIns="45720" rIns="45720">
            <a:spAutoFit/>
          </a:bodyPr>
          <a:lstStyle/>
          <a:p>
            <a:pPr algn="l"/>
            <a:r>
              <a:rPr sz="1700" b="1" i="0">
                <a:solidFill>
                  <a:srgbClr val="1B4D1F"/>
                </a:solidFill>
                <a:latin typeface="Arial"/>
              </a:rPr>
              <a:t>Mon poste</a:t>
            </a:r>
          </a:p>
        </p:txBody>
      </p:sp>
      <p:sp>
        <p:nvSpPr>
          <p:cNvPr id="13" name="TextBox 12"/>
          <p:cNvSpPr txBox="1"/>
          <p:nvPr/>
        </p:nvSpPr>
        <p:spPr>
          <a:xfrm>
            <a:off x="8339327" y="2103120"/>
            <a:ext cx="3291840" cy="3931920"/>
          </a:xfrm>
          <a:prstGeom prst="rect">
            <a:avLst/>
          </a:prstGeom>
          <a:noFill/>
        </p:spPr>
        <p:txBody>
          <a:bodyPr wrap="square">
            <a:spAutoFit/>
          </a:bodyPr>
          <a:lstStyle/>
          <a:p>
            <a:pPr>
              <a:spcAft>
                <a:spcPts val="400"/>
              </a:spcAft>
            </a:pPr>
            <a:r>
              <a:rPr sz="1000" b="1" i="0">
                <a:solidFill>
                  <a:srgbClr val="2E7D32"/>
                </a:solidFill>
                <a:latin typeface="Arial"/>
              </a:rPr>
              <a:t>◆  </a:t>
            </a:r>
            <a:r>
              <a:rPr sz="1400" b="1" i="0">
                <a:solidFill>
                  <a:srgbClr val="1B4D1F"/>
                </a:solidFill>
                <a:latin typeface="Arial"/>
              </a:rPr>
              <a:t>Aide-technicien plombier</a:t>
            </a:r>
          </a:p>
          <a:p>
            <a:pPr>
              <a:spcAft>
                <a:spcPts val="400"/>
              </a:spcAft>
            </a:pPr>
            <a:r>
              <a:rPr sz="1000" b="1" i="0">
                <a:solidFill>
                  <a:srgbClr val="2E7D32"/>
                </a:solidFill>
                <a:latin typeface="Arial"/>
              </a:rPr>
              <a:t>◆  </a:t>
            </a:r>
            <a:r>
              <a:rPr sz="1400" b="0" i="0">
                <a:solidFill>
                  <a:srgbClr val="222B33"/>
                </a:solidFill>
                <a:latin typeface="Arial"/>
              </a:rPr>
              <a:t>Division plomberie, sous le chef d'équipe</a:t>
            </a:r>
          </a:p>
          <a:p>
            <a:pPr>
              <a:spcAft>
                <a:spcPts val="400"/>
              </a:spcAft>
            </a:pPr>
            <a:r>
              <a:rPr sz="1000" b="1" i="0">
                <a:solidFill>
                  <a:srgbClr val="2E7D32"/>
                </a:solidFill>
                <a:latin typeface="Arial"/>
              </a:rPr>
              <a:t>◆  </a:t>
            </a:r>
            <a:r>
              <a:rPr sz="1400" b="0" i="0">
                <a:solidFill>
                  <a:srgbClr val="222B33"/>
                </a:solidFill>
                <a:latin typeface="Arial"/>
              </a:rPr>
              <a:t>Tuteur : </a:t>
            </a:r>
            <a:r>
              <a:rPr sz="1400" b="0" i="0">
                <a:solidFill>
                  <a:srgbClr val="E65100"/>
                </a:solidFill>
                <a:latin typeface="Arial"/>
              </a:rPr>
              <a:t>[À COMPLÉTER : M./Mme NOM Prénom]</a:t>
            </a:r>
          </a:p>
          <a:p>
            <a:pPr>
              <a:spcAft>
                <a:spcPts val="400"/>
              </a:spcAft>
            </a:pPr>
            <a:r>
              <a:rPr sz="1000" b="1" i="0">
                <a:solidFill>
                  <a:srgbClr val="2E7D32"/>
                </a:solidFill>
                <a:latin typeface="Arial"/>
              </a:rPr>
              <a:t>◆  </a:t>
            </a:r>
            <a:r>
              <a:rPr sz="1400" b="0" i="0">
                <a:solidFill>
                  <a:srgbClr val="222B33"/>
                </a:solidFill>
                <a:latin typeface="Arial"/>
              </a:rPr>
              <a:t>Durée : quatre (04) mois</a:t>
            </a:r>
          </a:p>
        </p:txBody>
      </p:sp>
      <p:sp>
        <p:nvSpPr>
          <p:cNvPr id="14" name="Rectangle 13"/>
          <p:cNvSpPr/>
          <p:nvPr/>
        </p:nvSpPr>
        <p:spPr>
          <a:xfrm>
            <a:off x="10972800" y="6419088"/>
            <a:ext cx="777240"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Arial"/>
              </a:rPr>
              <a:t>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DDE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
            <a:ext cx="8229600" cy="274320"/>
          </a:xfrm>
          <a:prstGeom prst="rect">
            <a:avLst/>
          </a:prstGeom>
          <a:noFill/>
        </p:spPr>
        <p:txBody>
          <a:bodyPr wrap="square" anchor="t" lIns="45720" rIns="45720">
            <a:spAutoFit/>
          </a:bodyPr>
          <a:lstStyle/>
          <a:p>
            <a:pPr algn="l"/>
            <a:r>
              <a:rPr sz="1000" b="1" i="1">
                <a:solidFill>
                  <a:srgbClr val="1B4D1F"/>
                </a:solidFill>
                <a:latin typeface="Arial"/>
              </a:rPr>
              <a:t>Plomberie sanitaire — cas de </a:t>
            </a:r>
            <a:r>
              <a:rPr sz="1000" b="1" i="1">
                <a:solidFill>
                  <a:srgbClr val="E65100"/>
                </a:solidFill>
                <a:latin typeface="Arial"/>
              </a:rPr>
              <a:t>[À COMPLÉTER : SIGLE]</a:t>
            </a:r>
          </a:p>
        </p:txBody>
      </p:sp>
      <p:sp>
        <p:nvSpPr>
          <p:cNvPr id="4" name="TextBox 3"/>
          <p:cNvSpPr txBox="1"/>
          <p:nvPr/>
        </p:nvSpPr>
        <p:spPr>
          <a:xfrm>
            <a:off x="6400800" y="18288"/>
            <a:ext cx="5486400" cy="274320"/>
          </a:xfrm>
          <a:prstGeom prst="rect">
            <a:avLst/>
          </a:prstGeom>
          <a:noFill/>
        </p:spPr>
        <p:txBody>
          <a:bodyPr wrap="none">
            <a:spAutoFit/>
          </a:bodyPr>
          <a:lstStyle/>
          <a:p>
            <a:pPr algn="r"/>
            <a:r>
              <a:rPr sz="1000" b="0" i="0">
                <a:solidFill>
                  <a:srgbClr val="5B6770"/>
                </a:solidFill>
                <a:latin typeface="Arial"/>
              </a:rPr>
              <a:t>Introduction</a:t>
            </a:r>
            <a:r>
              <a:rPr sz="1000" b="0" i="0">
                <a:solidFill>
                  <a:srgbClr val="5B6770"/>
                </a:solidFill>
                <a:latin typeface="Arial"/>
              </a:rPr>
              <a:t>  ·  </a:t>
            </a:r>
            <a:r>
              <a:rPr sz="1000" b="0" i="0">
                <a:solidFill>
                  <a:srgbClr val="5B6770"/>
                </a:solidFill>
                <a:latin typeface="Arial"/>
              </a:rPr>
              <a:t>Entreprise</a:t>
            </a:r>
            <a:r>
              <a:rPr sz="1000" b="0" i="0">
                <a:solidFill>
                  <a:srgbClr val="5B6770"/>
                </a:solidFill>
                <a:latin typeface="Arial"/>
              </a:rPr>
              <a:t>  ·  </a:t>
            </a:r>
            <a:r>
              <a:rPr sz="1000" b="1" i="0">
                <a:solidFill>
                  <a:srgbClr val="E65100"/>
                </a:solidFill>
                <a:latin typeface="Arial"/>
              </a:rPr>
              <a:t>Stage</a:t>
            </a:r>
            <a:r>
              <a:rPr sz="1000" b="0" i="0">
                <a:solidFill>
                  <a:srgbClr val="5B6770"/>
                </a:solidFill>
                <a:latin typeface="Arial"/>
              </a:rPr>
              <a:t>  ·  </a:t>
            </a:r>
            <a:r>
              <a:rPr sz="1000" b="0" i="0">
                <a:solidFill>
                  <a:srgbClr val="5B6770"/>
                </a:solidFill>
                <a:latin typeface="Arial"/>
              </a:rPr>
              <a:t>Plomberie</a:t>
            </a:r>
            <a:r>
              <a:rPr sz="1000" b="0" i="0">
                <a:solidFill>
                  <a:srgbClr val="5B6770"/>
                </a:solidFill>
                <a:latin typeface="Arial"/>
              </a:rPr>
              <a:t>  ·  </a:t>
            </a:r>
            <a:r>
              <a:rPr sz="1000" b="0" i="0">
                <a:solidFill>
                  <a:srgbClr val="5B6770"/>
                </a:solidFill>
                <a:latin typeface="Arial"/>
              </a:rPr>
              <a:t>Critiques</a:t>
            </a:r>
            <a:r>
              <a:rPr sz="1000" b="0" i="0">
                <a:solidFill>
                  <a:srgbClr val="5B6770"/>
                </a:solidFill>
                <a:latin typeface="Arial"/>
              </a:rPr>
              <a:t>  ·  </a:t>
            </a:r>
            <a:r>
              <a:rPr sz="1000" b="0" i="0">
                <a:solidFill>
                  <a:srgbClr val="5B6770"/>
                </a:solidFill>
                <a:latin typeface="Arial"/>
              </a:rPr>
              <a:t>Conclusion</a:t>
            </a:r>
          </a:p>
        </p:txBody>
      </p:sp>
      <p:sp>
        <p:nvSpPr>
          <p:cNvPr id="5" name="TextBox 4"/>
          <p:cNvSpPr txBox="1"/>
          <p:nvPr/>
        </p:nvSpPr>
        <p:spPr>
          <a:xfrm>
            <a:off x="457200" y="457200"/>
            <a:ext cx="11247120" cy="731520"/>
          </a:xfrm>
          <a:prstGeom prst="rect">
            <a:avLst/>
          </a:prstGeom>
          <a:noFill/>
        </p:spPr>
        <p:txBody>
          <a:bodyPr wrap="square" anchor="ctr" lIns="45720" rIns="45720">
            <a:spAutoFit/>
          </a:bodyPr>
          <a:lstStyle/>
          <a:p>
            <a:pPr algn="l"/>
            <a:r>
              <a:rPr sz="2800" b="1" i="0">
                <a:solidFill>
                  <a:srgbClr val="1B4D1F"/>
                </a:solidFill>
                <a:latin typeface="Arial"/>
              </a:rPr>
              <a:t>Déroulement du stage</a:t>
            </a:r>
          </a:p>
        </p:txBody>
      </p:sp>
      <p:sp>
        <p:nvSpPr>
          <p:cNvPr id="6" name="Rectangle 5"/>
          <p:cNvSpPr/>
          <p:nvPr/>
        </p:nvSpPr>
        <p:spPr>
          <a:xfrm>
            <a:off x="502920" y="1170432"/>
            <a:ext cx="1188720" cy="640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457200" y="6382512"/>
            <a:ext cx="11292840" cy="0"/>
          </a:xfrm>
          <a:prstGeom prst="line">
            <a:avLst/>
          </a:prstGeom>
          <a:ln>
            <a:solidFill>
              <a:srgbClr val="C8D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19088"/>
            <a:ext cx="8229600" cy="320040"/>
          </a:xfrm>
          <a:prstGeom prst="rect">
            <a:avLst/>
          </a:prstGeom>
          <a:noFill/>
        </p:spPr>
        <p:txBody>
          <a:bodyPr wrap="square" anchor="t" lIns="45720" rIns="45720">
            <a:spAutoFit/>
          </a:bodyPr>
          <a:lstStyle/>
          <a:p>
            <a:pPr algn="l"/>
            <a:r>
              <a:rPr sz="1100" b="1" i="1">
                <a:solidFill>
                  <a:srgbClr val="5B6770"/>
                </a:solidFill>
                <a:latin typeface="Arial"/>
              </a:rPr>
              <a:t>Rédigé et présenté par </a:t>
            </a:r>
            <a:r>
              <a:rPr sz="1100" b="1" i="1">
                <a:solidFill>
                  <a:srgbClr val="E65100"/>
                </a:solidFill>
                <a:latin typeface="Arial"/>
              </a:rPr>
              <a:t>[À COMPLÉTER : NOM Prénom]</a:t>
            </a:r>
            <a:r>
              <a:rPr sz="1100" b="1" i="1">
                <a:solidFill>
                  <a:srgbClr val="5B6770"/>
                </a:solidFill>
                <a:latin typeface="Arial"/>
              </a:rPr>
              <a:t>  —  Froid et climatisation</a:t>
            </a:r>
          </a:p>
        </p:txBody>
      </p:sp>
      <p:pic>
        <p:nvPicPr>
          <p:cNvPr id="9" name="Picture 8" descr="gantt.png"/>
          <p:cNvPicPr>
            <a:picLocks noChangeAspect="1"/>
          </p:cNvPicPr>
          <p:nvPr/>
        </p:nvPicPr>
        <p:blipFill>
          <a:blip r:embed="rId3"/>
          <a:stretch>
            <a:fillRect/>
          </a:stretch>
        </p:blipFill>
        <p:spPr>
          <a:xfrm>
            <a:off x="365760" y="1704178"/>
            <a:ext cx="7863840" cy="3358202"/>
          </a:xfrm>
          <a:prstGeom prst="rect">
            <a:avLst/>
          </a:prstGeom>
        </p:spPr>
      </p:pic>
      <p:sp>
        <p:nvSpPr>
          <p:cNvPr id="10" name="Rectangle 9"/>
          <p:cNvSpPr/>
          <p:nvPr/>
        </p:nvSpPr>
        <p:spPr>
          <a:xfrm>
            <a:off x="8412480" y="1463040"/>
            <a:ext cx="3337560" cy="46634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412480" y="1463040"/>
            <a:ext cx="3337560" cy="8229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49640" y="1618488"/>
            <a:ext cx="3063240" cy="411480"/>
          </a:xfrm>
          <a:prstGeom prst="rect">
            <a:avLst/>
          </a:prstGeom>
          <a:noFill/>
        </p:spPr>
        <p:txBody>
          <a:bodyPr wrap="square" anchor="t" lIns="45720" rIns="45720">
            <a:spAutoFit/>
          </a:bodyPr>
          <a:lstStyle/>
          <a:p>
            <a:pPr algn="l"/>
            <a:r>
              <a:rPr sz="1700" b="1" i="0">
                <a:solidFill>
                  <a:srgbClr val="1B4D1F"/>
                </a:solidFill>
                <a:latin typeface="Arial"/>
              </a:rPr>
              <a:t>Résultats</a:t>
            </a:r>
          </a:p>
        </p:txBody>
      </p:sp>
      <p:sp>
        <p:nvSpPr>
          <p:cNvPr id="13" name="TextBox 12"/>
          <p:cNvSpPr txBox="1"/>
          <p:nvPr/>
        </p:nvSpPr>
        <p:spPr>
          <a:xfrm>
            <a:off x="8522207" y="2103120"/>
            <a:ext cx="3108960" cy="3931920"/>
          </a:xfrm>
          <a:prstGeom prst="rect">
            <a:avLst/>
          </a:prstGeom>
          <a:noFill/>
        </p:spPr>
        <p:txBody>
          <a:bodyPr wrap="square">
            <a:spAutoFit/>
          </a:bodyPr>
          <a:lstStyle/>
          <a:p>
            <a:pPr>
              <a:spcAft>
                <a:spcPts val="400"/>
              </a:spcAft>
            </a:pPr>
            <a:r>
              <a:rPr sz="1000" b="1" i="0">
                <a:solidFill>
                  <a:srgbClr val="2E7D32"/>
                </a:solidFill>
                <a:latin typeface="Arial"/>
              </a:rPr>
              <a:t>◆  </a:t>
            </a:r>
            <a:r>
              <a:rPr sz="1400" b="0" i="0">
                <a:solidFill>
                  <a:srgbClr val="222B33"/>
                </a:solidFill>
                <a:latin typeface="Arial"/>
              </a:rPr>
              <a:t>Réseaux EF/ECS posés et testés</a:t>
            </a:r>
          </a:p>
          <a:p>
            <a:pPr>
              <a:spcAft>
                <a:spcPts val="400"/>
              </a:spcAft>
            </a:pPr>
            <a:r>
              <a:rPr sz="1000" b="1" i="0">
                <a:solidFill>
                  <a:srgbClr val="2E7D32"/>
                </a:solidFill>
                <a:latin typeface="Arial"/>
              </a:rPr>
              <a:t>◆  </a:t>
            </a:r>
            <a:r>
              <a:rPr sz="1400" b="0" i="0">
                <a:solidFill>
                  <a:srgbClr val="222B33"/>
                </a:solidFill>
                <a:latin typeface="Arial"/>
              </a:rPr>
              <a:t>Réducteurs et manomètres montés</a:t>
            </a:r>
          </a:p>
          <a:p>
            <a:pPr>
              <a:spcAft>
                <a:spcPts val="400"/>
              </a:spcAft>
            </a:pPr>
            <a:r>
              <a:rPr sz="1000" b="1" i="0">
                <a:solidFill>
                  <a:srgbClr val="2E7D32"/>
                </a:solidFill>
                <a:latin typeface="Arial"/>
              </a:rPr>
              <a:t>◆  </a:t>
            </a:r>
            <a:r>
              <a:rPr sz="1400" b="0" i="0">
                <a:solidFill>
                  <a:srgbClr val="222B33"/>
                </a:solidFill>
                <a:latin typeface="Arial"/>
              </a:rPr>
              <a:t>Canalisations isolées</a:t>
            </a:r>
          </a:p>
          <a:p>
            <a:pPr>
              <a:spcAft>
                <a:spcPts val="400"/>
              </a:spcAft>
            </a:pPr>
            <a:r>
              <a:rPr sz="1000" b="1" i="0">
                <a:solidFill>
                  <a:srgbClr val="2E7D32"/>
                </a:solidFill>
                <a:latin typeface="Arial"/>
              </a:rPr>
              <a:t>◆  </a:t>
            </a:r>
            <a:r>
              <a:rPr sz="1400" b="0" i="0">
                <a:solidFill>
                  <a:srgbClr val="222B33"/>
                </a:solidFill>
                <a:latin typeface="Arial"/>
              </a:rPr>
              <a:t>Essais d'étanchéité conformes</a:t>
            </a:r>
          </a:p>
        </p:txBody>
      </p:sp>
      <p:sp>
        <p:nvSpPr>
          <p:cNvPr id="14" name="TextBox 13"/>
          <p:cNvSpPr txBox="1"/>
          <p:nvPr/>
        </p:nvSpPr>
        <p:spPr>
          <a:xfrm>
            <a:off x="457200" y="5577840"/>
            <a:ext cx="7680960" cy="640080"/>
          </a:xfrm>
          <a:prstGeom prst="rect">
            <a:avLst/>
          </a:prstGeom>
          <a:noFill/>
        </p:spPr>
        <p:txBody>
          <a:bodyPr wrap="square" anchor="t" lIns="45720" rIns="45720">
            <a:spAutoFit/>
          </a:bodyPr>
          <a:lstStyle/>
          <a:p>
            <a:pPr algn="l"/>
            <a:r>
              <a:rPr sz="1400" b="1" i="0">
                <a:solidFill>
                  <a:srgbClr val="1B4D1F"/>
                </a:solidFill>
                <a:latin typeface="Arial"/>
              </a:rPr>
              <a:t>Organisation étage par étage : traçage → supports → assemblage → raccordement → essai → autocontrôle</a:t>
            </a:r>
          </a:p>
        </p:txBody>
      </p:sp>
      <p:sp>
        <p:nvSpPr>
          <p:cNvPr id="15" name="Rectangle 14"/>
          <p:cNvSpPr/>
          <p:nvPr/>
        </p:nvSpPr>
        <p:spPr>
          <a:xfrm>
            <a:off x="10972800" y="6419088"/>
            <a:ext cx="777240"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Arial"/>
              </a:rPr>
              <a:t>6 / 15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DDE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
            <a:ext cx="8229600" cy="274320"/>
          </a:xfrm>
          <a:prstGeom prst="rect">
            <a:avLst/>
          </a:prstGeom>
          <a:noFill/>
        </p:spPr>
        <p:txBody>
          <a:bodyPr wrap="square" anchor="t" lIns="45720" rIns="45720">
            <a:spAutoFit/>
          </a:bodyPr>
          <a:lstStyle/>
          <a:p>
            <a:pPr algn="l"/>
            <a:r>
              <a:rPr sz="1000" b="1" i="1">
                <a:solidFill>
                  <a:srgbClr val="1B4D1F"/>
                </a:solidFill>
                <a:latin typeface="Arial"/>
              </a:rPr>
              <a:t>Plomberie sanitaire — cas de </a:t>
            </a:r>
            <a:r>
              <a:rPr sz="1000" b="1" i="1">
                <a:solidFill>
                  <a:srgbClr val="E65100"/>
                </a:solidFill>
                <a:latin typeface="Arial"/>
              </a:rPr>
              <a:t>[À COMPLÉTER : SIGLE]</a:t>
            </a:r>
          </a:p>
        </p:txBody>
      </p:sp>
      <p:sp>
        <p:nvSpPr>
          <p:cNvPr id="4" name="TextBox 3"/>
          <p:cNvSpPr txBox="1"/>
          <p:nvPr/>
        </p:nvSpPr>
        <p:spPr>
          <a:xfrm>
            <a:off x="6400800" y="18288"/>
            <a:ext cx="5486400" cy="274320"/>
          </a:xfrm>
          <a:prstGeom prst="rect">
            <a:avLst/>
          </a:prstGeom>
          <a:noFill/>
        </p:spPr>
        <p:txBody>
          <a:bodyPr wrap="none">
            <a:spAutoFit/>
          </a:bodyPr>
          <a:lstStyle/>
          <a:p>
            <a:pPr algn="r"/>
            <a:r>
              <a:rPr sz="1000" b="0" i="0">
                <a:solidFill>
                  <a:srgbClr val="5B6770"/>
                </a:solidFill>
                <a:latin typeface="Arial"/>
              </a:rPr>
              <a:t>Introduction</a:t>
            </a:r>
            <a:r>
              <a:rPr sz="1000" b="0" i="0">
                <a:solidFill>
                  <a:srgbClr val="5B6770"/>
                </a:solidFill>
                <a:latin typeface="Arial"/>
              </a:rPr>
              <a:t>  ·  </a:t>
            </a:r>
            <a:r>
              <a:rPr sz="1000" b="0" i="0">
                <a:solidFill>
                  <a:srgbClr val="5B6770"/>
                </a:solidFill>
                <a:latin typeface="Arial"/>
              </a:rPr>
              <a:t>Entreprise</a:t>
            </a:r>
            <a:r>
              <a:rPr sz="1000" b="0" i="0">
                <a:solidFill>
                  <a:srgbClr val="5B6770"/>
                </a:solidFill>
                <a:latin typeface="Arial"/>
              </a:rPr>
              <a:t>  ·  </a:t>
            </a:r>
            <a:r>
              <a:rPr sz="1000" b="1" i="0">
                <a:solidFill>
                  <a:srgbClr val="E65100"/>
                </a:solidFill>
                <a:latin typeface="Arial"/>
              </a:rPr>
              <a:t>Stage</a:t>
            </a:r>
            <a:r>
              <a:rPr sz="1000" b="0" i="0">
                <a:solidFill>
                  <a:srgbClr val="5B6770"/>
                </a:solidFill>
                <a:latin typeface="Arial"/>
              </a:rPr>
              <a:t>  ·  </a:t>
            </a:r>
            <a:r>
              <a:rPr sz="1000" b="0" i="0">
                <a:solidFill>
                  <a:srgbClr val="5B6770"/>
                </a:solidFill>
                <a:latin typeface="Arial"/>
              </a:rPr>
              <a:t>Plomberie</a:t>
            </a:r>
            <a:r>
              <a:rPr sz="1000" b="0" i="0">
                <a:solidFill>
                  <a:srgbClr val="5B6770"/>
                </a:solidFill>
                <a:latin typeface="Arial"/>
              </a:rPr>
              <a:t>  ·  </a:t>
            </a:r>
            <a:r>
              <a:rPr sz="1000" b="0" i="0">
                <a:solidFill>
                  <a:srgbClr val="5B6770"/>
                </a:solidFill>
                <a:latin typeface="Arial"/>
              </a:rPr>
              <a:t>Critiques</a:t>
            </a:r>
            <a:r>
              <a:rPr sz="1000" b="0" i="0">
                <a:solidFill>
                  <a:srgbClr val="5B6770"/>
                </a:solidFill>
                <a:latin typeface="Arial"/>
              </a:rPr>
              <a:t>  ·  </a:t>
            </a:r>
            <a:r>
              <a:rPr sz="1000" b="0" i="0">
                <a:solidFill>
                  <a:srgbClr val="5B6770"/>
                </a:solidFill>
                <a:latin typeface="Arial"/>
              </a:rPr>
              <a:t>Conclusion</a:t>
            </a:r>
          </a:p>
        </p:txBody>
      </p:sp>
      <p:sp>
        <p:nvSpPr>
          <p:cNvPr id="5" name="TextBox 4"/>
          <p:cNvSpPr txBox="1"/>
          <p:nvPr/>
        </p:nvSpPr>
        <p:spPr>
          <a:xfrm>
            <a:off x="457200" y="457200"/>
            <a:ext cx="11247120" cy="731520"/>
          </a:xfrm>
          <a:prstGeom prst="rect">
            <a:avLst/>
          </a:prstGeom>
          <a:noFill/>
        </p:spPr>
        <p:txBody>
          <a:bodyPr wrap="square" anchor="ctr" lIns="45720" rIns="45720">
            <a:spAutoFit/>
          </a:bodyPr>
          <a:lstStyle/>
          <a:p>
            <a:pPr algn="l"/>
            <a:r>
              <a:rPr sz="2800" b="1" i="0">
                <a:solidFill>
                  <a:srgbClr val="1B4D1F"/>
                </a:solidFill>
                <a:latin typeface="Arial"/>
              </a:rPr>
              <a:t>Difficultés et compétences acquises</a:t>
            </a:r>
          </a:p>
        </p:txBody>
      </p:sp>
      <p:sp>
        <p:nvSpPr>
          <p:cNvPr id="6" name="Rectangle 5"/>
          <p:cNvSpPr/>
          <p:nvPr/>
        </p:nvSpPr>
        <p:spPr>
          <a:xfrm>
            <a:off x="502920" y="1170432"/>
            <a:ext cx="1188720" cy="640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457200" y="6382512"/>
            <a:ext cx="11292840" cy="0"/>
          </a:xfrm>
          <a:prstGeom prst="line">
            <a:avLst/>
          </a:prstGeom>
          <a:ln>
            <a:solidFill>
              <a:srgbClr val="C8D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19088"/>
            <a:ext cx="8229600" cy="320040"/>
          </a:xfrm>
          <a:prstGeom prst="rect">
            <a:avLst/>
          </a:prstGeom>
          <a:noFill/>
        </p:spPr>
        <p:txBody>
          <a:bodyPr wrap="square" anchor="t" lIns="45720" rIns="45720">
            <a:spAutoFit/>
          </a:bodyPr>
          <a:lstStyle/>
          <a:p>
            <a:pPr algn="l"/>
            <a:r>
              <a:rPr sz="1100" b="1" i="1">
                <a:solidFill>
                  <a:srgbClr val="5B6770"/>
                </a:solidFill>
                <a:latin typeface="Arial"/>
              </a:rPr>
              <a:t>Rédigé et présenté par </a:t>
            </a:r>
            <a:r>
              <a:rPr sz="1100" b="1" i="1">
                <a:solidFill>
                  <a:srgbClr val="E65100"/>
                </a:solidFill>
                <a:latin typeface="Arial"/>
              </a:rPr>
              <a:t>[À COMPLÉTER : NOM Prénom]</a:t>
            </a:r>
            <a:r>
              <a:rPr sz="1100" b="1" i="1">
                <a:solidFill>
                  <a:srgbClr val="5B6770"/>
                </a:solidFill>
                <a:latin typeface="Arial"/>
              </a:rPr>
              <a:t>  —  Froid et climatisation</a:t>
            </a:r>
          </a:p>
        </p:txBody>
      </p:sp>
      <p:graphicFrame>
        <p:nvGraphicFramePr>
          <p:cNvPr id="9" name="Table 8"/>
          <p:cNvGraphicFramePr>
            <a:graphicFrameLocks noGrp="1"/>
          </p:cNvGraphicFramePr>
          <p:nvPr/>
        </p:nvGraphicFramePr>
        <p:xfrm>
          <a:off x="457200" y="1463040"/>
          <a:ext cx="6675120" cy="3886200"/>
        </p:xfrm>
        <a:graphic>
          <a:graphicData uri="http://schemas.openxmlformats.org/drawingml/2006/table">
            <a:tbl>
              <a:tblPr firstRow="1" bandRow="1">
                <a:tableStyleId>{5C22544A-7EE6-4342-B048-85BDC9FD1C3A}</a:tableStyleId>
              </a:tblPr>
              <a:tblGrid>
                <a:gridCol w="3108960"/>
                <a:gridCol w="3566160"/>
              </a:tblGrid>
              <a:tr h="777240">
                <a:tc>
                  <a:txBody>
                    <a:bodyPr wrap="square"/>
                    <a:lstStyle/>
                    <a:p>
                      <a:pPr algn="l"/>
                      <a:r>
                        <a:rPr sz="1300" b="1" i="0">
                          <a:solidFill>
                            <a:srgbClr val="FFFFFF"/>
                          </a:solidFill>
                          <a:latin typeface="Arial"/>
                        </a:rPr>
                        <a:t>Difficulté</a:t>
                      </a:r>
                    </a:p>
                  </a:txBody>
                  <a:tcPr anchor="ctr" marL="73152" marR="73152">
                    <a:solidFill>
                      <a:srgbClr val="2E7D32"/>
                    </a:solidFill>
                  </a:tcPr>
                </a:tc>
                <a:tc>
                  <a:txBody>
                    <a:bodyPr wrap="square"/>
                    <a:lstStyle/>
                    <a:p>
                      <a:pPr algn="l"/>
                      <a:r>
                        <a:rPr sz="1300" b="1" i="0">
                          <a:solidFill>
                            <a:srgbClr val="FFFFFF"/>
                          </a:solidFill>
                          <a:latin typeface="Arial"/>
                        </a:rPr>
                        <a:t>Solution</a:t>
                      </a:r>
                    </a:p>
                  </a:txBody>
                  <a:tcPr anchor="ctr" marL="73152" marR="73152">
                    <a:solidFill>
                      <a:srgbClr val="2E7D32"/>
                    </a:solidFill>
                  </a:tcPr>
                </a:tc>
              </a:tr>
              <a:tr h="777240">
                <a:tc>
                  <a:txBody>
                    <a:bodyPr wrap="square"/>
                    <a:lstStyle/>
                    <a:p>
                      <a:pPr algn="l"/>
                      <a:r>
                        <a:rPr sz="1300" b="1" i="0">
                          <a:solidFill>
                            <a:srgbClr val="222B33"/>
                          </a:solidFill>
                          <a:latin typeface="Arial"/>
                        </a:rPr>
                        <a:t>Polyfusion irrégulière au début</a:t>
                      </a:r>
                    </a:p>
                  </a:txBody>
                  <a:tcPr anchor="ctr" marL="73152" marR="73152">
                    <a:solidFill>
                      <a:srgbClr val="EEF6EC"/>
                    </a:solidFill>
                  </a:tcPr>
                </a:tc>
                <a:tc>
                  <a:txBody>
                    <a:bodyPr wrap="square"/>
                    <a:lstStyle/>
                    <a:p>
                      <a:pPr algn="l"/>
                      <a:r>
                        <a:rPr sz="1300" b="0" i="0">
                          <a:solidFill>
                            <a:srgbClr val="222B33"/>
                          </a:solidFill>
                          <a:latin typeface="Arial"/>
                        </a:rPr>
                        <a:t>Entraînement, respect des temps de chauffe</a:t>
                      </a:r>
                    </a:p>
                  </a:txBody>
                  <a:tcPr anchor="ctr" marL="73152" marR="73152">
                    <a:solidFill>
                      <a:srgbClr val="EEF6EC"/>
                    </a:solidFill>
                  </a:tcPr>
                </a:tc>
              </a:tr>
              <a:tr h="777240">
                <a:tc>
                  <a:txBody>
                    <a:bodyPr wrap="square"/>
                    <a:lstStyle/>
                    <a:p>
                      <a:pPr algn="l"/>
                      <a:r>
                        <a:rPr sz="1300" b="1" i="0">
                          <a:solidFill>
                            <a:srgbClr val="222B33"/>
                          </a:solidFill>
                          <a:latin typeface="Arial"/>
                        </a:rPr>
                        <a:t>Lecture des plans multi-niveaux</a:t>
                      </a:r>
                    </a:p>
                  </a:txBody>
                  <a:tcPr anchor="ctr" marL="73152" marR="73152">
                    <a:solidFill>
                      <a:srgbClr val="FFFFFF"/>
                    </a:solidFill>
                  </a:tcPr>
                </a:tc>
                <a:tc>
                  <a:txBody>
                    <a:bodyPr wrap="square"/>
                    <a:lstStyle/>
                    <a:p>
                      <a:pPr algn="l"/>
                      <a:r>
                        <a:rPr sz="1300" b="0" i="0">
                          <a:solidFill>
                            <a:srgbClr val="222B33"/>
                          </a:solidFill>
                          <a:latin typeface="Arial"/>
                        </a:rPr>
                        <a:t>Accompagnement, repérage des cotes</a:t>
                      </a:r>
                    </a:p>
                  </a:txBody>
                  <a:tcPr anchor="ctr" marL="73152" marR="73152">
                    <a:solidFill>
                      <a:srgbClr val="FFFFFF"/>
                    </a:solidFill>
                  </a:tcPr>
                </a:tc>
              </a:tr>
              <a:tr h="777240">
                <a:tc>
                  <a:txBody>
                    <a:bodyPr wrap="square"/>
                    <a:lstStyle/>
                    <a:p>
                      <a:pPr algn="l"/>
                      <a:r>
                        <a:rPr sz="1300" b="1" i="0">
                          <a:solidFill>
                            <a:srgbClr val="222B33"/>
                          </a:solidFill>
                          <a:latin typeface="Arial"/>
                        </a:rPr>
                        <a:t>Ruptures de raccords</a:t>
                      </a:r>
                    </a:p>
                  </a:txBody>
                  <a:tcPr anchor="ctr" marL="73152" marR="73152">
                    <a:solidFill>
                      <a:srgbClr val="EEF6EC"/>
                    </a:solidFill>
                  </a:tcPr>
                </a:tc>
                <a:tc>
                  <a:txBody>
                    <a:bodyPr wrap="square"/>
                    <a:lstStyle/>
                    <a:p>
                      <a:pPr algn="l"/>
                      <a:r>
                        <a:rPr sz="1300" b="0" i="0">
                          <a:solidFill>
                            <a:srgbClr val="222B33"/>
                          </a:solidFill>
                          <a:latin typeface="Arial"/>
                        </a:rPr>
                        <a:t>Anticipation, réorganisation des zones</a:t>
                      </a:r>
                    </a:p>
                  </a:txBody>
                  <a:tcPr anchor="ctr" marL="73152" marR="73152">
                    <a:solidFill>
                      <a:srgbClr val="EEF6EC"/>
                    </a:solidFill>
                  </a:tcPr>
                </a:tc>
              </a:tr>
              <a:tr h="777240">
                <a:tc>
                  <a:txBody>
                    <a:bodyPr wrap="square"/>
                    <a:lstStyle/>
                    <a:p>
                      <a:pPr algn="l"/>
                      <a:r>
                        <a:rPr sz="1300" b="1" i="0">
                          <a:solidFill>
                            <a:srgbClr val="222B33"/>
                          </a:solidFill>
                          <a:latin typeface="Arial"/>
                        </a:rPr>
                        <a:t>Hauteur et faible éclairage</a:t>
                      </a:r>
                    </a:p>
                  </a:txBody>
                  <a:tcPr anchor="ctr" marL="73152" marR="73152">
                    <a:solidFill>
                      <a:srgbClr val="FFFFFF"/>
                    </a:solidFill>
                  </a:tcPr>
                </a:tc>
                <a:tc>
                  <a:txBody>
                    <a:bodyPr wrap="square"/>
                    <a:lstStyle/>
                    <a:p>
                      <a:pPr algn="l"/>
                      <a:r>
                        <a:rPr sz="1300" b="0" i="0">
                          <a:solidFill>
                            <a:srgbClr val="222B33"/>
                          </a:solidFill>
                          <a:latin typeface="Arial"/>
                        </a:rPr>
                        <a:t>Harnais, projecteurs</a:t>
                      </a:r>
                    </a:p>
                  </a:txBody>
                  <a:tcPr anchor="ctr" marL="73152" marR="73152">
                    <a:solidFill>
                      <a:srgbClr val="FFFFFF"/>
                    </a:solidFill>
                  </a:tcPr>
                </a:tc>
              </a:tr>
            </a:tbl>
          </a:graphicData>
        </a:graphic>
      </p:graphicFrame>
      <p:sp>
        <p:nvSpPr>
          <p:cNvPr id="10" name="Rectangle 9"/>
          <p:cNvSpPr/>
          <p:nvPr/>
        </p:nvSpPr>
        <p:spPr>
          <a:xfrm>
            <a:off x="7360920" y="1463040"/>
            <a:ext cx="4389120" cy="46634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60920" y="1463040"/>
            <a:ext cx="4389120" cy="8229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0" y="1618488"/>
            <a:ext cx="4114800" cy="411480"/>
          </a:xfrm>
          <a:prstGeom prst="rect">
            <a:avLst/>
          </a:prstGeom>
          <a:noFill/>
        </p:spPr>
        <p:txBody>
          <a:bodyPr wrap="square" anchor="t" lIns="45720" rIns="45720">
            <a:spAutoFit/>
          </a:bodyPr>
          <a:lstStyle/>
          <a:p>
            <a:pPr algn="l"/>
            <a:r>
              <a:rPr sz="1700" b="1" i="0">
                <a:solidFill>
                  <a:srgbClr val="1B4D1F"/>
                </a:solidFill>
                <a:latin typeface="Arial"/>
              </a:rPr>
              <a:t>Compétences</a:t>
            </a:r>
          </a:p>
        </p:txBody>
      </p:sp>
      <p:sp>
        <p:nvSpPr>
          <p:cNvPr id="13" name="TextBox 12"/>
          <p:cNvSpPr txBox="1"/>
          <p:nvPr/>
        </p:nvSpPr>
        <p:spPr>
          <a:xfrm>
            <a:off x="7470648" y="2103120"/>
            <a:ext cx="4160520" cy="3931920"/>
          </a:xfrm>
          <a:prstGeom prst="rect">
            <a:avLst/>
          </a:prstGeom>
          <a:noFill/>
        </p:spPr>
        <p:txBody>
          <a:bodyPr wrap="square">
            <a:spAutoFit/>
          </a:bodyPr>
          <a:lstStyle/>
          <a:p>
            <a:pPr>
              <a:spcAft>
                <a:spcPts val="400"/>
              </a:spcAft>
            </a:pPr>
            <a:r>
              <a:rPr sz="1000" b="1" i="0">
                <a:solidFill>
                  <a:srgbClr val="2E7D32"/>
                </a:solidFill>
                <a:latin typeface="Arial"/>
              </a:rPr>
              <a:t>◆  </a:t>
            </a:r>
            <a:r>
              <a:rPr sz="1400" b="0" i="0">
                <a:solidFill>
                  <a:srgbClr val="222B33"/>
                </a:solidFill>
                <a:latin typeface="Arial"/>
              </a:rPr>
              <a:t>Lire un plan de plomberie</a:t>
            </a:r>
          </a:p>
          <a:p>
            <a:pPr>
              <a:spcAft>
                <a:spcPts val="400"/>
              </a:spcAft>
            </a:pPr>
            <a:r>
              <a:rPr sz="1000" b="1" i="0">
                <a:solidFill>
                  <a:srgbClr val="2E7D32"/>
                </a:solidFill>
                <a:latin typeface="Arial"/>
              </a:rPr>
              <a:t>◆  </a:t>
            </a:r>
            <a:r>
              <a:rPr sz="1400" b="0" i="0">
                <a:solidFill>
                  <a:srgbClr val="222B33"/>
                </a:solidFill>
                <a:latin typeface="Arial"/>
              </a:rPr>
              <a:t>Assembler le PPR par polyfusion</a:t>
            </a:r>
          </a:p>
          <a:p>
            <a:pPr>
              <a:spcAft>
                <a:spcPts val="400"/>
              </a:spcAft>
            </a:pPr>
            <a:r>
              <a:rPr sz="1000" b="1" i="0">
                <a:solidFill>
                  <a:srgbClr val="2E7D32"/>
                </a:solidFill>
                <a:latin typeface="Arial"/>
              </a:rPr>
              <a:t>◆  </a:t>
            </a:r>
            <a:r>
              <a:rPr sz="1400" b="0" i="0">
                <a:solidFill>
                  <a:srgbClr val="222B33"/>
                </a:solidFill>
                <a:latin typeface="Arial"/>
              </a:rPr>
              <a:t>Monter et régler un réducteur</a:t>
            </a:r>
          </a:p>
          <a:p>
            <a:pPr>
              <a:spcAft>
                <a:spcPts val="400"/>
              </a:spcAft>
            </a:pPr>
            <a:r>
              <a:rPr sz="1000" b="1" i="0">
                <a:solidFill>
                  <a:srgbClr val="2E7D32"/>
                </a:solidFill>
                <a:latin typeface="Arial"/>
              </a:rPr>
              <a:t>◆  </a:t>
            </a:r>
            <a:r>
              <a:rPr sz="1400" b="0" i="0">
                <a:solidFill>
                  <a:srgbClr val="222B33"/>
                </a:solidFill>
                <a:latin typeface="Arial"/>
              </a:rPr>
              <a:t>Réaliser un essai d'étanchéité</a:t>
            </a:r>
          </a:p>
          <a:p>
            <a:pPr>
              <a:spcAft>
                <a:spcPts val="400"/>
              </a:spcAft>
            </a:pPr>
            <a:r>
              <a:rPr sz="1000" b="1" i="0">
                <a:solidFill>
                  <a:srgbClr val="2E7D32"/>
                </a:solidFill>
                <a:latin typeface="Arial"/>
              </a:rPr>
              <a:t>◆  </a:t>
            </a:r>
            <a:r>
              <a:rPr sz="1400" b="0" i="0">
                <a:solidFill>
                  <a:srgbClr val="222B33"/>
                </a:solidFill>
                <a:latin typeface="Arial"/>
              </a:rPr>
              <a:t>Rigueur, ponctualité, travail d'équipe</a:t>
            </a:r>
          </a:p>
        </p:txBody>
      </p:sp>
      <p:sp>
        <p:nvSpPr>
          <p:cNvPr id="14" name="Rectangle 13"/>
          <p:cNvSpPr/>
          <p:nvPr/>
        </p:nvSpPr>
        <p:spPr>
          <a:xfrm>
            <a:off x="10972800" y="6419088"/>
            <a:ext cx="777240"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Arial"/>
              </a:rPr>
              <a:t>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DDE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
            <a:ext cx="8229600" cy="274320"/>
          </a:xfrm>
          <a:prstGeom prst="rect">
            <a:avLst/>
          </a:prstGeom>
          <a:noFill/>
        </p:spPr>
        <p:txBody>
          <a:bodyPr wrap="square" anchor="t" lIns="45720" rIns="45720">
            <a:spAutoFit/>
          </a:bodyPr>
          <a:lstStyle/>
          <a:p>
            <a:pPr algn="l"/>
            <a:r>
              <a:rPr sz="1000" b="1" i="1">
                <a:solidFill>
                  <a:srgbClr val="1B4D1F"/>
                </a:solidFill>
                <a:latin typeface="Arial"/>
              </a:rPr>
              <a:t>Plomberie sanitaire — cas de </a:t>
            </a:r>
            <a:r>
              <a:rPr sz="1000" b="1" i="1">
                <a:solidFill>
                  <a:srgbClr val="E65100"/>
                </a:solidFill>
                <a:latin typeface="Arial"/>
              </a:rPr>
              <a:t>[À COMPLÉTER : SIGLE]</a:t>
            </a:r>
          </a:p>
        </p:txBody>
      </p:sp>
      <p:sp>
        <p:nvSpPr>
          <p:cNvPr id="4" name="TextBox 3"/>
          <p:cNvSpPr txBox="1"/>
          <p:nvPr/>
        </p:nvSpPr>
        <p:spPr>
          <a:xfrm>
            <a:off x="6400800" y="18288"/>
            <a:ext cx="5486400" cy="274320"/>
          </a:xfrm>
          <a:prstGeom prst="rect">
            <a:avLst/>
          </a:prstGeom>
          <a:noFill/>
        </p:spPr>
        <p:txBody>
          <a:bodyPr wrap="none">
            <a:spAutoFit/>
          </a:bodyPr>
          <a:lstStyle/>
          <a:p>
            <a:pPr algn="r"/>
            <a:r>
              <a:rPr sz="1000" b="0" i="0">
                <a:solidFill>
                  <a:srgbClr val="5B6770"/>
                </a:solidFill>
                <a:latin typeface="Arial"/>
              </a:rPr>
              <a:t>Introduction</a:t>
            </a:r>
            <a:r>
              <a:rPr sz="1000" b="0" i="0">
                <a:solidFill>
                  <a:srgbClr val="5B6770"/>
                </a:solidFill>
                <a:latin typeface="Arial"/>
              </a:rPr>
              <a:t>  ·  </a:t>
            </a:r>
            <a:r>
              <a:rPr sz="1000" b="0" i="0">
                <a:solidFill>
                  <a:srgbClr val="5B6770"/>
                </a:solidFill>
                <a:latin typeface="Arial"/>
              </a:rPr>
              <a:t>Entreprise</a:t>
            </a:r>
            <a:r>
              <a:rPr sz="1000" b="0" i="0">
                <a:solidFill>
                  <a:srgbClr val="5B6770"/>
                </a:solidFill>
                <a:latin typeface="Arial"/>
              </a:rPr>
              <a:t>  ·  </a:t>
            </a:r>
            <a:r>
              <a:rPr sz="1000" b="0" i="0">
                <a:solidFill>
                  <a:srgbClr val="5B6770"/>
                </a:solidFill>
                <a:latin typeface="Arial"/>
              </a:rPr>
              <a:t>Stage</a:t>
            </a:r>
            <a:r>
              <a:rPr sz="1000" b="0" i="0">
                <a:solidFill>
                  <a:srgbClr val="5B6770"/>
                </a:solidFill>
                <a:latin typeface="Arial"/>
              </a:rPr>
              <a:t>  ·  </a:t>
            </a:r>
            <a:r>
              <a:rPr sz="1000" b="1" i="0">
                <a:solidFill>
                  <a:srgbClr val="E65100"/>
                </a:solidFill>
                <a:latin typeface="Arial"/>
              </a:rPr>
              <a:t>Plomberie</a:t>
            </a:r>
            <a:r>
              <a:rPr sz="1000" b="0" i="0">
                <a:solidFill>
                  <a:srgbClr val="5B6770"/>
                </a:solidFill>
                <a:latin typeface="Arial"/>
              </a:rPr>
              <a:t>  ·  </a:t>
            </a:r>
            <a:r>
              <a:rPr sz="1000" b="0" i="0">
                <a:solidFill>
                  <a:srgbClr val="5B6770"/>
                </a:solidFill>
                <a:latin typeface="Arial"/>
              </a:rPr>
              <a:t>Critiques</a:t>
            </a:r>
            <a:r>
              <a:rPr sz="1000" b="0" i="0">
                <a:solidFill>
                  <a:srgbClr val="5B6770"/>
                </a:solidFill>
                <a:latin typeface="Arial"/>
              </a:rPr>
              <a:t>  ·  </a:t>
            </a:r>
            <a:r>
              <a:rPr sz="1000" b="0" i="0">
                <a:solidFill>
                  <a:srgbClr val="5B6770"/>
                </a:solidFill>
                <a:latin typeface="Arial"/>
              </a:rPr>
              <a:t>Conclusion</a:t>
            </a:r>
          </a:p>
        </p:txBody>
      </p:sp>
      <p:sp>
        <p:nvSpPr>
          <p:cNvPr id="5" name="TextBox 4"/>
          <p:cNvSpPr txBox="1"/>
          <p:nvPr/>
        </p:nvSpPr>
        <p:spPr>
          <a:xfrm>
            <a:off x="457200" y="457200"/>
            <a:ext cx="11247120" cy="731520"/>
          </a:xfrm>
          <a:prstGeom prst="rect">
            <a:avLst/>
          </a:prstGeom>
          <a:noFill/>
        </p:spPr>
        <p:txBody>
          <a:bodyPr wrap="square" anchor="ctr" lIns="45720" rIns="45720">
            <a:spAutoFit/>
          </a:bodyPr>
          <a:lstStyle/>
          <a:p>
            <a:pPr algn="l"/>
            <a:r>
              <a:rPr sz="2800" b="1" i="0">
                <a:solidFill>
                  <a:srgbClr val="1B4D1F"/>
                </a:solidFill>
                <a:latin typeface="Arial"/>
              </a:rPr>
              <a:t>Plomberie sanitaire : principe d'installation</a:t>
            </a:r>
          </a:p>
        </p:txBody>
      </p:sp>
      <p:sp>
        <p:nvSpPr>
          <p:cNvPr id="6" name="Rectangle 5"/>
          <p:cNvSpPr/>
          <p:nvPr/>
        </p:nvSpPr>
        <p:spPr>
          <a:xfrm>
            <a:off x="502920" y="1170432"/>
            <a:ext cx="1188720" cy="640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457200" y="6382512"/>
            <a:ext cx="11292840" cy="0"/>
          </a:xfrm>
          <a:prstGeom prst="line">
            <a:avLst/>
          </a:prstGeom>
          <a:ln>
            <a:solidFill>
              <a:srgbClr val="C8D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19088"/>
            <a:ext cx="8229600" cy="320040"/>
          </a:xfrm>
          <a:prstGeom prst="rect">
            <a:avLst/>
          </a:prstGeom>
          <a:noFill/>
        </p:spPr>
        <p:txBody>
          <a:bodyPr wrap="square" anchor="t" lIns="45720" rIns="45720">
            <a:spAutoFit/>
          </a:bodyPr>
          <a:lstStyle/>
          <a:p>
            <a:pPr algn="l"/>
            <a:r>
              <a:rPr sz="1100" b="1" i="1">
                <a:solidFill>
                  <a:srgbClr val="5B6770"/>
                </a:solidFill>
                <a:latin typeface="Arial"/>
              </a:rPr>
              <a:t>Rédigé et présenté par </a:t>
            </a:r>
            <a:r>
              <a:rPr sz="1100" b="1" i="1">
                <a:solidFill>
                  <a:srgbClr val="E65100"/>
                </a:solidFill>
                <a:latin typeface="Arial"/>
              </a:rPr>
              <a:t>[À COMPLÉTER : NOM Prénom]</a:t>
            </a:r>
            <a:r>
              <a:rPr sz="1100" b="1" i="1">
                <a:solidFill>
                  <a:srgbClr val="5B6770"/>
                </a:solidFill>
                <a:latin typeface="Arial"/>
              </a:rPr>
              <a:t>  —  Froid et climatisation</a:t>
            </a:r>
          </a:p>
        </p:txBody>
      </p:sp>
      <p:pic>
        <p:nvPicPr>
          <p:cNvPr id="9" name="Picture 8" descr="schema_principe.png"/>
          <p:cNvPicPr>
            <a:picLocks noChangeAspect="1"/>
          </p:cNvPicPr>
          <p:nvPr/>
        </p:nvPicPr>
        <p:blipFill>
          <a:blip r:embed="rId3"/>
          <a:stretch>
            <a:fillRect/>
          </a:stretch>
        </p:blipFill>
        <p:spPr>
          <a:xfrm>
            <a:off x="365760" y="1440296"/>
            <a:ext cx="7863840" cy="4708926"/>
          </a:xfrm>
          <a:prstGeom prst="rect">
            <a:avLst/>
          </a:prstGeom>
        </p:spPr>
      </p:pic>
      <p:sp>
        <p:nvSpPr>
          <p:cNvPr id="10" name="Rectangle 9"/>
          <p:cNvSpPr/>
          <p:nvPr/>
        </p:nvSpPr>
        <p:spPr>
          <a:xfrm>
            <a:off x="8412480" y="1463040"/>
            <a:ext cx="3337560" cy="46634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412480" y="1463040"/>
            <a:ext cx="3337560" cy="8229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49640" y="1618488"/>
            <a:ext cx="3063240" cy="411480"/>
          </a:xfrm>
          <a:prstGeom prst="rect">
            <a:avLst/>
          </a:prstGeom>
          <a:noFill/>
        </p:spPr>
        <p:txBody>
          <a:bodyPr wrap="square" anchor="t" lIns="45720" rIns="45720">
            <a:spAutoFit/>
          </a:bodyPr>
          <a:lstStyle/>
          <a:p>
            <a:pPr algn="l"/>
            <a:r>
              <a:rPr sz="1700" b="1" i="0">
                <a:solidFill>
                  <a:srgbClr val="1B4D1F"/>
                </a:solidFill>
                <a:latin typeface="Arial"/>
              </a:rPr>
              <a:t>Matériaux</a:t>
            </a:r>
          </a:p>
        </p:txBody>
      </p:sp>
      <p:sp>
        <p:nvSpPr>
          <p:cNvPr id="13" name="TextBox 12"/>
          <p:cNvSpPr txBox="1"/>
          <p:nvPr/>
        </p:nvSpPr>
        <p:spPr>
          <a:xfrm>
            <a:off x="8522207" y="2103120"/>
            <a:ext cx="3108960" cy="3931920"/>
          </a:xfrm>
          <a:prstGeom prst="rect">
            <a:avLst/>
          </a:prstGeom>
          <a:noFill/>
        </p:spPr>
        <p:txBody>
          <a:bodyPr wrap="square">
            <a:spAutoFit/>
          </a:bodyPr>
          <a:lstStyle/>
          <a:p>
            <a:pPr>
              <a:spcAft>
                <a:spcPts val="400"/>
              </a:spcAft>
            </a:pPr>
            <a:r>
              <a:rPr sz="1000" b="1" i="0">
                <a:solidFill>
                  <a:srgbClr val="2E7D32"/>
                </a:solidFill>
                <a:latin typeface="Arial"/>
              </a:rPr>
              <a:t>◆  </a:t>
            </a:r>
            <a:r>
              <a:rPr sz="1400" b="1" i="0">
                <a:solidFill>
                  <a:srgbClr val="1B4D1F"/>
                </a:solidFill>
                <a:latin typeface="Arial"/>
              </a:rPr>
              <a:t>PPR</a:t>
            </a:r>
            <a:r>
              <a:rPr sz="1400" b="0" i="0">
                <a:solidFill>
                  <a:srgbClr val="222B33"/>
                </a:solidFill>
                <a:latin typeface="Arial"/>
              </a:rPr>
              <a:t> : EF et ECS, polyfusion</a:t>
            </a:r>
          </a:p>
          <a:p>
            <a:pPr>
              <a:spcAft>
                <a:spcPts val="400"/>
              </a:spcAft>
            </a:pPr>
            <a:r>
              <a:rPr sz="1000" b="1" i="0">
                <a:solidFill>
                  <a:srgbClr val="2E7D32"/>
                </a:solidFill>
                <a:latin typeface="Arial"/>
              </a:rPr>
              <a:t>◆  </a:t>
            </a:r>
            <a:r>
              <a:rPr sz="1400" b="1" i="0">
                <a:solidFill>
                  <a:srgbClr val="1B4D1F"/>
                </a:solidFill>
                <a:latin typeface="Arial"/>
              </a:rPr>
              <a:t>PER</a:t>
            </a:r>
            <a:r>
              <a:rPr sz="1400" b="0" i="0">
                <a:solidFill>
                  <a:srgbClr val="222B33"/>
                </a:solidFill>
                <a:latin typeface="Arial"/>
              </a:rPr>
              <a:t> : distribution</a:t>
            </a:r>
          </a:p>
          <a:p>
            <a:pPr>
              <a:spcAft>
                <a:spcPts val="400"/>
              </a:spcAft>
            </a:pPr>
            <a:r>
              <a:rPr sz="1000" b="1" i="0">
                <a:solidFill>
                  <a:srgbClr val="2E7D32"/>
                </a:solidFill>
                <a:latin typeface="Arial"/>
              </a:rPr>
              <a:t>◆  </a:t>
            </a:r>
            <a:r>
              <a:rPr sz="1400" b="1" i="0">
                <a:solidFill>
                  <a:srgbClr val="1B4D1F"/>
                </a:solidFill>
                <a:latin typeface="Arial"/>
              </a:rPr>
              <a:t>PE</a:t>
            </a:r>
            <a:r>
              <a:rPr sz="1400" b="0" i="0">
                <a:solidFill>
                  <a:srgbClr val="222B33"/>
                </a:solidFill>
                <a:latin typeface="Arial"/>
              </a:rPr>
              <a:t> : branchement enterré</a:t>
            </a:r>
          </a:p>
          <a:p>
            <a:pPr>
              <a:spcAft>
                <a:spcPts val="400"/>
              </a:spcAft>
            </a:pPr>
            <a:r>
              <a:rPr sz="1000" b="1" i="0">
                <a:solidFill>
                  <a:srgbClr val="2E7D32"/>
                </a:solidFill>
                <a:latin typeface="Arial"/>
              </a:rPr>
              <a:t>◆  </a:t>
            </a:r>
            <a:r>
              <a:rPr sz="1400" b="1" i="0">
                <a:solidFill>
                  <a:srgbClr val="1B4D1F"/>
                </a:solidFill>
                <a:latin typeface="Arial"/>
              </a:rPr>
              <a:t>PVC</a:t>
            </a:r>
            <a:r>
              <a:rPr sz="1400" b="0" i="0">
                <a:solidFill>
                  <a:srgbClr val="222B33"/>
                </a:solidFill>
                <a:latin typeface="Arial"/>
              </a:rPr>
              <a:t> : évacuations</a:t>
            </a:r>
          </a:p>
        </p:txBody>
      </p:sp>
      <p:sp>
        <p:nvSpPr>
          <p:cNvPr id="14" name="Rectangle 13"/>
          <p:cNvSpPr/>
          <p:nvPr/>
        </p:nvSpPr>
        <p:spPr>
          <a:xfrm>
            <a:off x="10972800" y="6419088"/>
            <a:ext cx="777240"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Arial"/>
              </a:rPr>
              <a:t>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DDE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
            <a:ext cx="8229600" cy="274320"/>
          </a:xfrm>
          <a:prstGeom prst="rect">
            <a:avLst/>
          </a:prstGeom>
          <a:noFill/>
        </p:spPr>
        <p:txBody>
          <a:bodyPr wrap="square" anchor="t" lIns="45720" rIns="45720">
            <a:spAutoFit/>
          </a:bodyPr>
          <a:lstStyle/>
          <a:p>
            <a:pPr algn="l"/>
            <a:r>
              <a:rPr sz="1000" b="1" i="1">
                <a:solidFill>
                  <a:srgbClr val="1B4D1F"/>
                </a:solidFill>
                <a:latin typeface="Arial"/>
              </a:rPr>
              <a:t>Plomberie sanitaire — cas de </a:t>
            </a:r>
            <a:r>
              <a:rPr sz="1000" b="1" i="1">
                <a:solidFill>
                  <a:srgbClr val="E65100"/>
                </a:solidFill>
                <a:latin typeface="Arial"/>
              </a:rPr>
              <a:t>[À COMPLÉTER : SIGLE]</a:t>
            </a:r>
          </a:p>
        </p:txBody>
      </p:sp>
      <p:sp>
        <p:nvSpPr>
          <p:cNvPr id="4" name="TextBox 3"/>
          <p:cNvSpPr txBox="1"/>
          <p:nvPr/>
        </p:nvSpPr>
        <p:spPr>
          <a:xfrm>
            <a:off x="6400800" y="18288"/>
            <a:ext cx="5486400" cy="274320"/>
          </a:xfrm>
          <a:prstGeom prst="rect">
            <a:avLst/>
          </a:prstGeom>
          <a:noFill/>
        </p:spPr>
        <p:txBody>
          <a:bodyPr wrap="none">
            <a:spAutoFit/>
          </a:bodyPr>
          <a:lstStyle/>
          <a:p>
            <a:pPr algn="r"/>
            <a:r>
              <a:rPr sz="1000" b="0" i="0">
                <a:solidFill>
                  <a:srgbClr val="5B6770"/>
                </a:solidFill>
                <a:latin typeface="Arial"/>
              </a:rPr>
              <a:t>Introduction</a:t>
            </a:r>
            <a:r>
              <a:rPr sz="1000" b="0" i="0">
                <a:solidFill>
                  <a:srgbClr val="5B6770"/>
                </a:solidFill>
                <a:latin typeface="Arial"/>
              </a:rPr>
              <a:t>  ·  </a:t>
            </a:r>
            <a:r>
              <a:rPr sz="1000" b="0" i="0">
                <a:solidFill>
                  <a:srgbClr val="5B6770"/>
                </a:solidFill>
                <a:latin typeface="Arial"/>
              </a:rPr>
              <a:t>Entreprise</a:t>
            </a:r>
            <a:r>
              <a:rPr sz="1000" b="0" i="0">
                <a:solidFill>
                  <a:srgbClr val="5B6770"/>
                </a:solidFill>
                <a:latin typeface="Arial"/>
              </a:rPr>
              <a:t>  ·  </a:t>
            </a:r>
            <a:r>
              <a:rPr sz="1000" b="0" i="0">
                <a:solidFill>
                  <a:srgbClr val="5B6770"/>
                </a:solidFill>
                <a:latin typeface="Arial"/>
              </a:rPr>
              <a:t>Stage</a:t>
            </a:r>
            <a:r>
              <a:rPr sz="1000" b="0" i="0">
                <a:solidFill>
                  <a:srgbClr val="5B6770"/>
                </a:solidFill>
                <a:latin typeface="Arial"/>
              </a:rPr>
              <a:t>  ·  </a:t>
            </a:r>
            <a:r>
              <a:rPr sz="1000" b="1" i="0">
                <a:solidFill>
                  <a:srgbClr val="E65100"/>
                </a:solidFill>
                <a:latin typeface="Arial"/>
              </a:rPr>
              <a:t>Plomberie</a:t>
            </a:r>
            <a:r>
              <a:rPr sz="1000" b="0" i="0">
                <a:solidFill>
                  <a:srgbClr val="5B6770"/>
                </a:solidFill>
                <a:latin typeface="Arial"/>
              </a:rPr>
              <a:t>  ·  </a:t>
            </a:r>
            <a:r>
              <a:rPr sz="1000" b="0" i="0">
                <a:solidFill>
                  <a:srgbClr val="5B6770"/>
                </a:solidFill>
                <a:latin typeface="Arial"/>
              </a:rPr>
              <a:t>Critiques</a:t>
            </a:r>
            <a:r>
              <a:rPr sz="1000" b="0" i="0">
                <a:solidFill>
                  <a:srgbClr val="5B6770"/>
                </a:solidFill>
                <a:latin typeface="Arial"/>
              </a:rPr>
              <a:t>  ·  </a:t>
            </a:r>
            <a:r>
              <a:rPr sz="1000" b="0" i="0">
                <a:solidFill>
                  <a:srgbClr val="5B6770"/>
                </a:solidFill>
                <a:latin typeface="Arial"/>
              </a:rPr>
              <a:t>Conclusion</a:t>
            </a:r>
          </a:p>
        </p:txBody>
      </p:sp>
      <p:sp>
        <p:nvSpPr>
          <p:cNvPr id="5" name="TextBox 4"/>
          <p:cNvSpPr txBox="1"/>
          <p:nvPr/>
        </p:nvSpPr>
        <p:spPr>
          <a:xfrm>
            <a:off x="457200" y="457200"/>
            <a:ext cx="11247120" cy="731520"/>
          </a:xfrm>
          <a:prstGeom prst="rect">
            <a:avLst/>
          </a:prstGeom>
          <a:noFill/>
        </p:spPr>
        <p:txBody>
          <a:bodyPr wrap="square" anchor="ctr" lIns="45720" rIns="45720">
            <a:spAutoFit/>
          </a:bodyPr>
          <a:lstStyle/>
          <a:p>
            <a:pPr algn="l"/>
            <a:r>
              <a:rPr sz="2800" b="1" i="0">
                <a:solidFill>
                  <a:srgbClr val="1B4D1F"/>
                </a:solidFill>
                <a:latin typeface="Arial"/>
              </a:rPr>
              <a:t>Étude de cas : dimensionnement de la colonne</a:t>
            </a:r>
          </a:p>
        </p:txBody>
      </p:sp>
      <p:sp>
        <p:nvSpPr>
          <p:cNvPr id="6" name="Rectangle 5"/>
          <p:cNvSpPr/>
          <p:nvPr/>
        </p:nvSpPr>
        <p:spPr>
          <a:xfrm>
            <a:off x="502920" y="1170432"/>
            <a:ext cx="1188720" cy="640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457200" y="6382512"/>
            <a:ext cx="11292840" cy="0"/>
          </a:xfrm>
          <a:prstGeom prst="line">
            <a:avLst/>
          </a:prstGeom>
          <a:ln>
            <a:solidFill>
              <a:srgbClr val="C8D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19088"/>
            <a:ext cx="8229600" cy="320040"/>
          </a:xfrm>
          <a:prstGeom prst="rect">
            <a:avLst/>
          </a:prstGeom>
          <a:noFill/>
        </p:spPr>
        <p:txBody>
          <a:bodyPr wrap="square" anchor="t" lIns="45720" rIns="45720">
            <a:spAutoFit/>
          </a:bodyPr>
          <a:lstStyle/>
          <a:p>
            <a:pPr algn="l"/>
            <a:r>
              <a:rPr sz="1100" b="1" i="1">
                <a:solidFill>
                  <a:srgbClr val="5B6770"/>
                </a:solidFill>
                <a:latin typeface="Arial"/>
              </a:rPr>
              <a:t>Rédigé et présenté par </a:t>
            </a:r>
            <a:r>
              <a:rPr sz="1100" b="1" i="1">
                <a:solidFill>
                  <a:srgbClr val="E65100"/>
                </a:solidFill>
                <a:latin typeface="Arial"/>
              </a:rPr>
              <a:t>[À COMPLÉTER : NOM Prénom]</a:t>
            </a:r>
            <a:r>
              <a:rPr sz="1100" b="1" i="1">
                <a:solidFill>
                  <a:srgbClr val="5B6770"/>
                </a:solidFill>
                <a:latin typeface="Arial"/>
              </a:rPr>
              <a:t>  —  Froid et climatisation</a:t>
            </a:r>
          </a:p>
        </p:txBody>
      </p:sp>
      <p:sp>
        <p:nvSpPr>
          <p:cNvPr id="9" name="TextBox 8"/>
          <p:cNvSpPr txBox="1"/>
          <p:nvPr/>
        </p:nvSpPr>
        <p:spPr>
          <a:xfrm>
            <a:off x="457200" y="1371600"/>
            <a:ext cx="6766560" cy="822960"/>
          </a:xfrm>
          <a:prstGeom prst="rect">
            <a:avLst/>
          </a:prstGeom>
          <a:noFill/>
        </p:spPr>
        <p:txBody>
          <a:bodyPr wrap="square" anchor="t" lIns="45720" rIns="45720">
            <a:spAutoFit/>
          </a:bodyPr>
          <a:lstStyle/>
          <a:p>
            <a:pPr algn="l"/>
            <a:r>
              <a:rPr sz="1500" b="0" i="0">
                <a:solidFill>
                  <a:srgbClr val="222B33"/>
                </a:solidFill>
                <a:latin typeface="Arial"/>
              </a:rPr>
              <a:t>Hypothèses : R+10, 40 chambres (lavabo 0,20 + douche 0,20 + WC 0,12 L/s), usage hôtelier Cm = 1,25</a:t>
            </a:r>
          </a:p>
        </p:txBody>
      </p:sp>
      <p:sp>
        <p:nvSpPr>
          <p:cNvPr id="10" name="TextBox 9"/>
          <p:cNvSpPr txBox="1"/>
          <p:nvPr/>
        </p:nvSpPr>
        <p:spPr>
          <a:xfrm>
            <a:off x="457200" y="2148840"/>
            <a:ext cx="6766560" cy="548640"/>
          </a:xfrm>
          <a:prstGeom prst="rect">
            <a:avLst/>
          </a:prstGeom>
          <a:noFill/>
        </p:spPr>
        <p:txBody>
          <a:bodyPr wrap="square" anchor="t" lIns="45720" rIns="45720">
            <a:spAutoFit/>
          </a:bodyPr>
          <a:lstStyle/>
          <a:p>
            <a:pPr algn="l"/>
            <a:r>
              <a:rPr sz="1700" b="1" i="0">
                <a:solidFill>
                  <a:srgbClr val="1B4D1F"/>
                </a:solidFill>
                <a:latin typeface="Arial"/>
              </a:rPr>
              <a:t>y = 0,8 / √(N − 1) × Cm        Qp = y × ΣQb        D = √(4 Qp / π V)</a:t>
            </a:r>
          </a:p>
        </p:txBody>
      </p:sp>
      <p:graphicFrame>
        <p:nvGraphicFramePr>
          <p:cNvPr id="11" name="Table 10"/>
          <p:cNvGraphicFramePr>
            <a:graphicFrameLocks noGrp="1"/>
          </p:cNvGraphicFramePr>
          <p:nvPr/>
        </p:nvGraphicFramePr>
        <p:xfrm>
          <a:off x="457200" y="2880360"/>
          <a:ext cx="6766560" cy="1645920"/>
        </p:xfrm>
        <a:graphic>
          <a:graphicData uri="http://schemas.openxmlformats.org/drawingml/2006/table">
            <a:tbl>
              <a:tblPr firstRow="1" bandRow="1">
                <a:tableStyleId>{5C22544A-7EE6-4342-B048-85BDC9FD1C3A}</a:tableStyleId>
              </a:tblPr>
              <a:tblGrid>
                <a:gridCol w="2011680"/>
                <a:gridCol w="1097280"/>
                <a:gridCol w="1188720"/>
                <a:gridCol w="1371600"/>
                <a:gridCol w="1097280"/>
              </a:tblGrid>
              <a:tr h="548640">
                <a:tc>
                  <a:txBody>
                    <a:bodyPr wrap="square"/>
                    <a:lstStyle/>
                    <a:p>
                      <a:pPr algn="l"/>
                      <a:r>
                        <a:rPr sz="1400" b="1" i="0">
                          <a:solidFill>
                            <a:srgbClr val="FFFFFF"/>
                          </a:solidFill>
                          <a:latin typeface="Arial"/>
                        </a:rPr>
                        <a:t>Tronçon</a:t>
                      </a:r>
                    </a:p>
                  </a:txBody>
                  <a:tcPr anchor="ctr" marL="73152" marR="73152">
                    <a:solidFill>
                      <a:srgbClr val="2E7D32"/>
                    </a:solidFill>
                  </a:tcPr>
                </a:tc>
                <a:tc>
                  <a:txBody>
                    <a:bodyPr wrap="square"/>
                    <a:lstStyle/>
                    <a:p>
                      <a:pPr algn="ctr"/>
                      <a:r>
                        <a:rPr sz="1400" b="1" i="0">
                          <a:solidFill>
                            <a:srgbClr val="FFFFFF"/>
                          </a:solidFill>
                          <a:latin typeface="Arial"/>
                        </a:rPr>
                        <a:t>Qp (L/s)</a:t>
                      </a:r>
                    </a:p>
                  </a:txBody>
                  <a:tcPr anchor="ctr" marL="73152" marR="73152">
                    <a:solidFill>
                      <a:srgbClr val="2E7D32"/>
                    </a:solidFill>
                  </a:tcPr>
                </a:tc>
                <a:tc>
                  <a:txBody>
                    <a:bodyPr wrap="square"/>
                    <a:lstStyle/>
                    <a:p>
                      <a:pPr algn="ctr"/>
                      <a:r>
                        <a:rPr sz="1400" b="1" i="0">
                          <a:solidFill>
                            <a:srgbClr val="FFFFFF"/>
                          </a:solidFill>
                          <a:latin typeface="Arial"/>
                        </a:rPr>
                        <a:t>Vmax (m/s)</a:t>
                      </a:r>
                    </a:p>
                  </a:txBody>
                  <a:tcPr anchor="ctr" marL="73152" marR="73152">
                    <a:solidFill>
                      <a:srgbClr val="2E7D32"/>
                    </a:solidFill>
                  </a:tcPr>
                </a:tc>
                <a:tc>
                  <a:txBody>
                    <a:bodyPr wrap="square"/>
                    <a:lstStyle/>
                    <a:p>
                      <a:pPr algn="ctr"/>
                      <a:r>
                        <a:rPr sz="1400" b="1" i="0">
                          <a:solidFill>
                            <a:srgbClr val="FFFFFF"/>
                          </a:solidFill>
                          <a:latin typeface="Arial"/>
                        </a:rPr>
                        <a:t>PPR retenu</a:t>
                      </a:r>
                    </a:p>
                  </a:txBody>
                  <a:tcPr anchor="ctr" marL="73152" marR="73152">
                    <a:solidFill>
                      <a:srgbClr val="2E7D32"/>
                    </a:solidFill>
                  </a:tcPr>
                </a:tc>
                <a:tc>
                  <a:txBody>
                    <a:bodyPr wrap="square"/>
                    <a:lstStyle/>
                    <a:p>
                      <a:pPr algn="ctr"/>
                      <a:r>
                        <a:rPr sz="1400" b="1" i="0">
                          <a:solidFill>
                            <a:srgbClr val="FFFFFF"/>
                          </a:solidFill>
                          <a:latin typeface="Arial"/>
                        </a:rPr>
                        <a:t>V (m/s)</a:t>
                      </a:r>
                    </a:p>
                  </a:txBody>
                  <a:tcPr anchor="ctr" marL="73152" marR="73152">
                    <a:solidFill>
                      <a:srgbClr val="2E7D32"/>
                    </a:solidFill>
                  </a:tcPr>
                </a:tc>
              </a:tr>
              <a:tr h="548640">
                <a:tc>
                  <a:txBody>
                    <a:bodyPr wrap="square"/>
                    <a:lstStyle/>
                    <a:p>
                      <a:pPr algn="l"/>
                      <a:r>
                        <a:rPr sz="1400" b="1" i="0">
                          <a:solidFill>
                            <a:srgbClr val="222B33"/>
                          </a:solidFill>
                          <a:latin typeface="Arial"/>
                        </a:rPr>
                        <a:t>Étage (N = 12)</a:t>
                      </a:r>
                    </a:p>
                  </a:txBody>
                  <a:tcPr anchor="ctr" marL="73152" marR="73152">
                    <a:solidFill>
                      <a:srgbClr val="EEF6EC"/>
                    </a:solidFill>
                  </a:tcPr>
                </a:tc>
                <a:tc>
                  <a:txBody>
                    <a:bodyPr wrap="square"/>
                    <a:lstStyle/>
                    <a:p>
                      <a:pPr algn="ctr"/>
                      <a:r>
                        <a:rPr sz="1400" b="0" i="0">
                          <a:solidFill>
                            <a:srgbClr val="222B33"/>
                          </a:solidFill>
                          <a:latin typeface="Arial"/>
                        </a:rPr>
                        <a:t>0,63</a:t>
                      </a:r>
                    </a:p>
                  </a:txBody>
                  <a:tcPr anchor="ctr" marL="73152" marR="73152">
                    <a:solidFill>
                      <a:srgbClr val="EEF6EC"/>
                    </a:solidFill>
                  </a:tcPr>
                </a:tc>
                <a:tc>
                  <a:txBody>
                    <a:bodyPr wrap="square"/>
                    <a:lstStyle/>
                    <a:p>
                      <a:pPr algn="ctr"/>
                      <a:r>
                        <a:rPr sz="1400" b="0" i="0">
                          <a:solidFill>
                            <a:srgbClr val="222B33"/>
                          </a:solidFill>
                          <a:latin typeface="Arial"/>
                        </a:rPr>
                        <a:t>1,0</a:t>
                      </a:r>
                    </a:p>
                  </a:txBody>
                  <a:tcPr anchor="ctr" marL="73152" marR="73152">
                    <a:solidFill>
                      <a:srgbClr val="EEF6EC"/>
                    </a:solidFill>
                  </a:tcPr>
                </a:tc>
                <a:tc>
                  <a:txBody>
                    <a:bodyPr wrap="square"/>
                    <a:lstStyle/>
                    <a:p>
                      <a:pPr algn="ctr"/>
                      <a:r>
                        <a:rPr sz="1400" b="0" i="0">
                          <a:solidFill>
                            <a:srgbClr val="222B33"/>
                          </a:solidFill>
                          <a:latin typeface="Arial"/>
                        </a:rPr>
                        <a:t>50 × 8,3</a:t>
                      </a:r>
                    </a:p>
                  </a:txBody>
                  <a:tcPr anchor="ctr" marL="73152" marR="73152">
                    <a:solidFill>
                      <a:srgbClr val="EEF6EC"/>
                    </a:solidFill>
                  </a:tcPr>
                </a:tc>
                <a:tc>
                  <a:txBody>
                    <a:bodyPr wrap="square"/>
                    <a:lstStyle/>
                    <a:p>
                      <a:pPr algn="ctr"/>
                      <a:r>
                        <a:rPr sz="1400" b="0" i="0">
                          <a:solidFill>
                            <a:srgbClr val="222B33"/>
                          </a:solidFill>
                          <a:latin typeface="Arial"/>
                        </a:rPr>
                        <a:t>0,72</a:t>
                      </a:r>
                    </a:p>
                  </a:txBody>
                  <a:tcPr anchor="ctr" marL="73152" marR="73152">
                    <a:solidFill>
                      <a:srgbClr val="EEF6EC"/>
                    </a:solidFill>
                  </a:tcPr>
                </a:tc>
              </a:tr>
              <a:tr h="548640">
                <a:tc>
                  <a:txBody>
                    <a:bodyPr wrap="square"/>
                    <a:lstStyle/>
                    <a:p>
                      <a:pPr algn="l"/>
                      <a:r>
                        <a:rPr sz="1400" b="1" i="0">
                          <a:solidFill>
                            <a:srgbClr val="222B33"/>
                          </a:solidFill>
                          <a:latin typeface="Arial"/>
                        </a:rPr>
                        <a:t>Colonne (N = 120)</a:t>
                      </a:r>
                    </a:p>
                  </a:txBody>
                  <a:tcPr anchor="ctr" marL="73152" marR="73152">
                    <a:solidFill>
                      <a:srgbClr val="FFFFFF"/>
                    </a:solidFill>
                  </a:tcPr>
                </a:tc>
                <a:tc>
                  <a:txBody>
                    <a:bodyPr wrap="square"/>
                    <a:lstStyle/>
                    <a:p>
                      <a:pPr algn="ctr"/>
                      <a:r>
                        <a:rPr sz="1400" b="0" i="0">
                          <a:solidFill>
                            <a:srgbClr val="222B33"/>
                          </a:solidFill>
                          <a:latin typeface="Arial"/>
                        </a:rPr>
                        <a:t>1,91</a:t>
                      </a:r>
                    </a:p>
                  </a:txBody>
                  <a:tcPr anchor="ctr" marL="73152" marR="73152">
                    <a:solidFill>
                      <a:srgbClr val="FFFFFF"/>
                    </a:solidFill>
                  </a:tcPr>
                </a:tc>
                <a:tc>
                  <a:txBody>
                    <a:bodyPr wrap="square"/>
                    <a:lstStyle/>
                    <a:p>
                      <a:pPr algn="ctr"/>
                      <a:r>
                        <a:rPr sz="1400" b="0" i="0">
                          <a:solidFill>
                            <a:srgbClr val="222B33"/>
                          </a:solidFill>
                          <a:latin typeface="Arial"/>
                        </a:rPr>
                        <a:t>1,5</a:t>
                      </a:r>
                    </a:p>
                  </a:txBody>
                  <a:tcPr anchor="ctr" marL="73152" marR="73152">
                    <a:solidFill>
                      <a:srgbClr val="FFFFFF"/>
                    </a:solidFill>
                  </a:tcPr>
                </a:tc>
                <a:tc>
                  <a:txBody>
                    <a:bodyPr wrap="square"/>
                    <a:lstStyle/>
                    <a:p>
                      <a:pPr algn="ctr"/>
                      <a:r>
                        <a:rPr sz="1400" b="0" i="0">
                          <a:solidFill>
                            <a:srgbClr val="222B33"/>
                          </a:solidFill>
                          <a:latin typeface="Arial"/>
                        </a:rPr>
                        <a:t>63 × 10,5</a:t>
                      </a:r>
                    </a:p>
                  </a:txBody>
                  <a:tcPr anchor="ctr" marL="73152" marR="73152">
                    <a:solidFill>
                      <a:srgbClr val="FFFFFF"/>
                    </a:solidFill>
                  </a:tcPr>
                </a:tc>
                <a:tc>
                  <a:txBody>
                    <a:bodyPr wrap="square"/>
                    <a:lstStyle/>
                    <a:p>
                      <a:pPr algn="ctr"/>
                      <a:r>
                        <a:rPr sz="1400" b="0" i="0">
                          <a:solidFill>
                            <a:srgbClr val="222B33"/>
                          </a:solidFill>
                          <a:latin typeface="Arial"/>
                        </a:rPr>
                        <a:t>1,38</a:t>
                      </a:r>
                    </a:p>
                  </a:txBody>
                  <a:tcPr anchor="ctr" marL="73152" marR="73152">
                    <a:solidFill>
                      <a:srgbClr val="FFFFFF"/>
                    </a:solidFill>
                  </a:tcPr>
                </a:tc>
              </a:tr>
            </a:tbl>
          </a:graphicData>
        </a:graphic>
      </p:graphicFrame>
      <p:sp>
        <p:nvSpPr>
          <p:cNvPr id="12" name="TextBox 11"/>
          <p:cNvSpPr txBox="1"/>
          <p:nvPr/>
        </p:nvSpPr>
        <p:spPr>
          <a:xfrm>
            <a:off x="457200" y="4754880"/>
            <a:ext cx="6766560" cy="914400"/>
          </a:xfrm>
          <a:prstGeom prst="rect">
            <a:avLst/>
          </a:prstGeom>
          <a:noFill/>
        </p:spPr>
        <p:txBody>
          <a:bodyPr wrap="square" anchor="t" lIns="45720" rIns="45720">
            <a:spAutoFit/>
          </a:bodyPr>
          <a:lstStyle/>
          <a:p>
            <a:pPr algn="l"/>
            <a:r>
              <a:rPr sz="1400" b="0" i="0">
                <a:solidFill>
                  <a:srgbClr val="222B33"/>
                </a:solidFill>
                <a:latin typeface="Arial"/>
              </a:rPr>
              <a:t>Pertes de charge (Flamant) ≈ 3,4 m + hauteur 30 m + 1 bar résiduel ⇒ ≈ 4,3 bar en pied de colonne</a:t>
            </a:r>
          </a:p>
        </p:txBody>
      </p:sp>
      <p:sp>
        <p:nvSpPr>
          <p:cNvPr id="13" name="Rounded Rectangle 12"/>
          <p:cNvSpPr/>
          <p:nvPr/>
        </p:nvSpPr>
        <p:spPr>
          <a:xfrm>
            <a:off x="7589520" y="1463040"/>
            <a:ext cx="1965960" cy="1188720"/>
          </a:xfrm>
          <a:prstGeom prst="roundRect">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0" y="1536192"/>
            <a:ext cx="1965960" cy="594360"/>
          </a:xfrm>
          <a:prstGeom prst="rect">
            <a:avLst/>
          </a:prstGeom>
          <a:noFill/>
        </p:spPr>
        <p:txBody>
          <a:bodyPr wrap="square" anchor="t" lIns="45720" rIns="45720">
            <a:spAutoFit/>
          </a:bodyPr>
          <a:lstStyle/>
          <a:p>
            <a:pPr algn="ctr"/>
            <a:r>
              <a:rPr sz="2800" b="1" i="0">
                <a:solidFill>
                  <a:srgbClr val="2E7D32"/>
                </a:solidFill>
                <a:latin typeface="Arial"/>
              </a:rPr>
              <a:t>1,91 L/s</a:t>
            </a:r>
          </a:p>
        </p:txBody>
      </p:sp>
      <p:sp>
        <p:nvSpPr>
          <p:cNvPr id="15" name="TextBox 14"/>
          <p:cNvSpPr txBox="1"/>
          <p:nvPr/>
        </p:nvSpPr>
        <p:spPr>
          <a:xfrm>
            <a:off x="7680960" y="2148840"/>
            <a:ext cx="1783080" cy="457200"/>
          </a:xfrm>
          <a:prstGeom prst="rect">
            <a:avLst/>
          </a:prstGeom>
          <a:noFill/>
        </p:spPr>
        <p:txBody>
          <a:bodyPr wrap="square" anchor="t" lIns="45720" rIns="45720">
            <a:spAutoFit/>
          </a:bodyPr>
          <a:lstStyle/>
          <a:p>
            <a:pPr algn="ctr"/>
            <a:r>
              <a:rPr sz="1300" b="0" i="0">
                <a:solidFill>
                  <a:srgbClr val="5B6770"/>
                </a:solidFill>
                <a:latin typeface="Arial"/>
              </a:rPr>
              <a:t>débit probable colonne</a:t>
            </a:r>
          </a:p>
        </p:txBody>
      </p:sp>
      <p:sp>
        <p:nvSpPr>
          <p:cNvPr id="16" name="Rounded Rectangle 15"/>
          <p:cNvSpPr/>
          <p:nvPr/>
        </p:nvSpPr>
        <p:spPr>
          <a:xfrm>
            <a:off x="9784080" y="1463040"/>
            <a:ext cx="1965960" cy="1188720"/>
          </a:xfrm>
          <a:prstGeom prst="roundRect">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84080" y="1536192"/>
            <a:ext cx="1965960" cy="594360"/>
          </a:xfrm>
          <a:prstGeom prst="rect">
            <a:avLst/>
          </a:prstGeom>
          <a:noFill/>
        </p:spPr>
        <p:txBody>
          <a:bodyPr wrap="square" anchor="t" lIns="45720" rIns="45720">
            <a:spAutoFit/>
          </a:bodyPr>
          <a:lstStyle/>
          <a:p>
            <a:pPr algn="ctr"/>
            <a:r>
              <a:rPr sz="2800" b="1" i="0">
                <a:solidFill>
                  <a:srgbClr val="2E7D32"/>
                </a:solidFill>
                <a:latin typeface="Arial"/>
              </a:rPr>
              <a:t>PPR 63</a:t>
            </a:r>
          </a:p>
        </p:txBody>
      </p:sp>
      <p:sp>
        <p:nvSpPr>
          <p:cNvPr id="18" name="TextBox 17"/>
          <p:cNvSpPr txBox="1"/>
          <p:nvPr/>
        </p:nvSpPr>
        <p:spPr>
          <a:xfrm>
            <a:off x="9875519" y="2148840"/>
            <a:ext cx="1783080" cy="457200"/>
          </a:xfrm>
          <a:prstGeom prst="rect">
            <a:avLst/>
          </a:prstGeom>
          <a:noFill/>
        </p:spPr>
        <p:txBody>
          <a:bodyPr wrap="square" anchor="t" lIns="45720" rIns="45720">
            <a:spAutoFit/>
          </a:bodyPr>
          <a:lstStyle/>
          <a:p>
            <a:pPr algn="ctr"/>
            <a:r>
              <a:rPr sz="1300" b="0" i="0">
                <a:solidFill>
                  <a:srgbClr val="5B6770"/>
                </a:solidFill>
                <a:latin typeface="Arial"/>
              </a:rPr>
              <a:t>diamètre de colonne</a:t>
            </a:r>
          </a:p>
        </p:txBody>
      </p:sp>
      <p:sp>
        <p:nvSpPr>
          <p:cNvPr id="19" name="Rounded Rectangle 18"/>
          <p:cNvSpPr/>
          <p:nvPr/>
        </p:nvSpPr>
        <p:spPr>
          <a:xfrm>
            <a:off x="7589520" y="2880360"/>
            <a:ext cx="1965960" cy="1188720"/>
          </a:xfrm>
          <a:prstGeom prst="roundRect">
            <a:avLst/>
          </a:prstGeom>
          <a:solidFill>
            <a:srgbClr val="FFFFFF"/>
          </a:solidFill>
          <a:ln w="19050">
            <a:solidFill>
              <a:srgbClr val="E651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0" y="2953512"/>
            <a:ext cx="1965960" cy="594360"/>
          </a:xfrm>
          <a:prstGeom prst="rect">
            <a:avLst/>
          </a:prstGeom>
          <a:noFill/>
        </p:spPr>
        <p:txBody>
          <a:bodyPr wrap="square" anchor="t" lIns="45720" rIns="45720">
            <a:spAutoFit/>
          </a:bodyPr>
          <a:lstStyle/>
          <a:p>
            <a:pPr algn="ctr"/>
            <a:r>
              <a:rPr sz="2800" b="1" i="0">
                <a:solidFill>
                  <a:srgbClr val="E65100"/>
                </a:solidFill>
                <a:latin typeface="Arial"/>
              </a:rPr>
              <a:t>1,38 m/s</a:t>
            </a:r>
          </a:p>
        </p:txBody>
      </p:sp>
      <p:sp>
        <p:nvSpPr>
          <p:cNvPr id="21" name="TextBox 20"/>
          <p:cNvSpPr txBox="1"/>
          <p:nvPr/>
        </p:nvSpPr>
        <p:spPr>
          <a:xfrm>
            <a:off x="7680960" y="3566160"/>
            <a:ext cx="1783080" cy="457200"/>
          </a:xfrm>
          <a:prstGeom prst="rect">
            <a:avLst/>
          </a:prstGeom>
          <a:noFill/>
        </p:spPr>
        <p:txBody>
          <a:bodyPr wrap="square" anchor="t" lIns="45720" rIns="45720">
            <a:spAutoFit/>
          </a:bodyPr>
          <a:lstStyle/>
          <a:p>
            <a:pPr algn="ctr"/>
            <a:r>
              <a:rPr sz="1300" b="0" i="0">
                <a:solidFill>
                  <a:srgbClr val="5B6770"/>
                </a:solidFill>
                <a:latin typeface="Arial"/>
              </a:rPr>
              <a:t>vitesse ≤ 1,5 m/s</a:t>
            </a:r>
          </a:p>
        </p:txBody>
      </p:sp>
      <p:sp>
        <p:nvSpPr>
          <p:cNvPr id="22" name="Rounded Rectangle 21"/>
          <p:cNvSpPr/>
          <p:nvPr/>
        </p:nvSpPr>
        <p:spPr>
          <a:xfrm>
            <a:off x="9784080" y="2880360"/>
            <a:ext cx="1965960" cy="1188720"/>
          </a:xfrm>
          <a:prstGeom prst="roundRect">
            <a:avLst/>
          </a:prstGeom>
          <a:solidFill>
            <a:srgbClr val="FFFFFF"/>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84080" y="2953512"/>
            <a:ext cx="1965960" cy="594360"/>
          </a:xfrm>
          <a:prstGeom prst="rect">
            <a:avLst/>
          </a:prstGeom>
          <a:noFill/>
        </p:spPr>
        <p:txBody>
          <a:bodyPr wrap="square" anchor="t" lIns="45720" rIns="45720">
            <a:spAutoFit/>
          </a:bodyPr>
          <a:lstStyle/>
          <a:p>
            <a:pPr algn="ctr"/>
            <a:r>
              <a:rPr sz="2800" b="1" i="0">
                <a:solidFill>
                  <a:srgbClr val="2E7D32"/>
                </a:solidFill>
                <a:latin typeface="Arial"/>
              </a:rPr>
              <a:t>4,3 bar</a:t>
            </a:r>
          </a:p>
        </p:txBody>
      </p:sp>
      <p:sp>
        <p:nvSpPr>
          <p:cNvPr id="24" name="TextBox 23"/>
          <p:cNvSpPr txBox="1"/>
          <p:nvPr/>
        </p:nvSpPr>
        <p:spPr>
          <a:xfrm>
            <a:off x="9875519" y="3566160"/>
            <a:ext cx="1783080" cy="457200"/>
          </a:xfrm>
          <a:prstGeom prst="rect">
            <a:avLst/>
          </a:prstGeom>
          <a:noFill/>
        </p:spPr>
        <p:txBody>
          <a:bodyPr wrap="square" anchor="t" lIns="45720" rIns="45720">
            <a:spAutoFit/>
          </a:bodyPr>
          <a:lstStyle/>
          <a:p>
            <a:pPr algn="ctr"/>
            <a:r>
              <a:rPr sz="1300" b="0" i="0">
                <a:solidFill>
                  <a:srgbClr val="5B6770"/>
                </a:solidFill>
                <a:latin typeface="Arial"/>
              </a:rPr>
              <a:t>pression en pied</a:t>
            </a:r>
          </a:p>
        </p:txBody>
      </p:sp>
      <p:sp>
        <p:nvSpPr>
          <p:cNvPr id="25" name="TextBox 24"/>
          <p:cNvSpPr txBox="1"/>
          <p:nvPr/>
        </p:nvSpPr>
        <p:spPr>
          <a:xfrm>
            <a:off x="7589520" y="4343400"/>
            <a:ext cx="4206240" cy="1371600"/>
          </a:xfrm>
          <a:prstGeom prst="rect">
            <a:avLst/>
          </a:prstGeom>
          <a:noFill/>
        </p:spPr>
        <p:txBody>
          <a:bodyPr wrap="square" anchor="t" lIns="45720" rIns="45720">
            <a:spAutoFit/>
          </a:bodyPr>
          <a:lstStyle/>
          <a:p>
            <a:pPr algn="l"/>
            <a:r>
              <a:rPr sz="1200" b="0" i="1">
                <a:solidFill>
                  <a:srgbClr val="5B6770"/>
                </a:solidFill>
                <a:latin typeface="Arial"/>
              </a:rPr>
              <a:t>Source : NF DTU 60.11 (débits de base, simultanéité, vitesses)</a:t>
            </a:r>
          </a:p>
        </p:txBody>
      </p:sp>
      <p:sp>
        <p:nvSpPr>
          <p:cNvPr id="26" name="Rectangle 25"/>
          <p:cNvSpPr/>
          <p:nvPr/>
        </p:nvSpPr>
        <p:spPr>
          <a:xfrm>
            <a:off x="10972800" y="6419088"/>
            <a:ext cx="777240"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Arial"/>
              </a:rPr>
              <a:t>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DDE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
            <a:ext cx="8229600" cy="274320"/>
          </a:xfrm>
          <a:prstGeom prst="rect">
            <a:avLst/>
          </a:prstGeom>
          <a:noFill/>
        </p:spPr>
        <p:txBody>
          <a:bodyPr wrap="square" anchor="t" lIns="45720" rIns="45720">
            <a:spAutoFit/>
          </a:bodyPr>
          <a:lstStyle/>
          <a:p>
            <a:pPr algn="l"/>
            <a:r>
              <a:rPr sz="1000" b="1" i="1">
                <a:solidFill>
                  <a:srgbClr val="1B4D1F"/>
                </a:solidFill>
                <a:latin typeface="Arial"/>
              </a:rPr>
              <a:t>Plomberie sanitaire — cas de </a:t>
            </a:r>
            <a:r>
              <a:rPr sz="1000" b="1" i="1">
                <a:solidFill>
                  <a:srgbClr val="E65100"/>
                </a:solidFill>
                <a:latin typeface="Arial"/>
              </a:rPr>
              <a:t>[À COMPLÉTER : SIGLE]</a:t>
            </a:r>
          </a:p>
        </p:txBody>
      </p:sp>
      <p:sp>
        <p:nvSpPr>
          <p:cNvPr id="4" name="TextBox 3"/>
          <p:cNvSpPr txBox="1"/>
          <p:nvPr/>
        </p:nvSpPr>
        <p:spPr>
          <a:xfrm>
            <a:off x="6400800" y="18288"/>
            <a:ext cx="5486400" cy="274320"/>
          </a:xfrm>
          <a:prstGeom prst="rect">
            <a:avLst/>
          </a:prstGeom>
          <a:noFill/>
        </p:spPr>
        <p:txBody>
          <a:bodyPr wrap="none">
            <a:spAutoFit/>
          </a:bodyPr>
          <a:lstStyle/>
          <a:p>
            <a:pPr algn="r"/>
            <a:r>
              <a:rPr sz="1000" b="0" i="0">
                <a:solidFill>
                  <a:srgbClr val="5B6770"/>
                </a:solidFill>
                <a:latin typeface="Arial"/>
              </a:rPr>
              <a:t>Introduction</a:t>
            </a:r>
            <a:r>
              <a:rPr sz="1000" b="0" i="0">
                <a:solidFill>
                  <a:srgbClr val="5B6770"/>
                </a:solidFill>
                <a:latin typeface="Arial"/>
              </a:rPr>
              <a:t>  ·  </a:t>
            </a:r>
            <a:r>
              <a:rPr sz="1000" b="0" i="0">
                <a:solidFill>
                  <a:srgbClr val="5B6770"/>
                </a:solidFill>
                <a:latin typeface="Arial"/>
              </a:rPr>
              <a:t>Entreprise</a:t>
            </a:r>
            <a:r>
              <a:rPr sz="1000" b="0" i="0">
                <a:solidFill>
                  <a:srgbClr val="5B6770"/>
                </a:solidFill>
                <a:latin typeface="Arial"/>
              </a:rPr>
              <a:t>  ·  </a:t>
            </a:r>
            <a:r>
              <a:rPr sz="1000" b="0" i="0">
                <a:solidFill>
                  <a:srgbClr val="5B6770"/>
                </a:solidFill>
                <a:latin typeface="Arial"/>
              </a:rPr>
              <a:t>Stage</a:t>
            </a:r>
            <a:r>
              <a:rPr sz="1000" b="0" i="0">
                <a:solidFill>
                  <a:srgbClr val="5B6770"/>
                </a:solidFill>
                <a:latin typeface="Arial"/>
              </a:rPr>
              <a:t>  ·  </a:t>
            </a:r>
            <a:r>
              <a:rPr sz="1000" b="1" i="0">
                <a:solidFill>
                  <a:srgbClr val="E65100"/>
                </a:solidFill>
                <a:latin typeface="Arial"/>
              </a:rPr>
              <a:t>Plomberie</a:t>
            </a:r>
            <a:r>
              <a:rPr sz="1000" b="0" i="0">
                <a:solidFill>
                  <a:srgbClr val="5B6770"/>
                </a:solidFill>
                <a:latin typeface="Arial"/>
              </a:rPr>
              <a:t>  ·  </a:t>
            </a:r>
            <a:r>
              <a:rPr sz="1000" b="0" i="0">
                <a:solidFill>
                  <a:srgbClr val="5B6770"/>
                </a:solidFill>
                <a:latin typeface="Arial"/>
              </a:rPr>
              <a:t>Critiques</a:t>
            </a:r>
            <a:r>
              <a:rPr sz="1000" b="0" i="0">
                <a:solidFill>
                  <a:srgbClr val="5B6770"/>
                </a:solidFill>
                <a:latin typeface="Arial"/>
              </a:rPr>
              <a:t>  ·  </a:t>
            </a:r>
            <a:r>
              <a:rPr sz="1000" b="0" i="0">
                <a:solidFill>
                  <a:srgbClr val="5B6770"/>
                </a:solidFill>
                <a:latin typeface="Arial"/>
              </a:rPr>
              <a:t>Conclusion</a:t>
            </a:r>
          </a:p>
        </p:txBody>
      </p:sp>
      <p:sp>
        <p:nvSpPr>
          <p:cNvPr id="5" name="TextBox 4"/>
          <p:cNvSpPr txBox="1"/>
          <p:nvPr/>
        </p:nvSpPr>
        <p:spPr>
          <a:xfrm>
            <a:off x="457200" y="457200"/>
            <a:ext cx="11247120" cy="731520"/>
          </a:xfrm>
          <a:prstGeom prst="rect">
            <a:avLst/>
          </a:prstGeom>
          <a:noFill/>
        </p:spPr>
        <p:txBody>
          <a:bodyPr wrap="square" anchor="ctr" lIns="45720" rIns="45720">
            <a:spAutoFit/>
          </a:bodyPr>
          <a:lstStyle/>
          <a:p>
            <a:pPr algn="l"/>
            <a:r>
              <a:rPr sz="2800" b="1" i="0">
                <a:solidFill>
                  <a:srgbClr val="1B4D1F"/>
                </a:solidFill>
                <a:latin typeface="Arial"/>
              </a:rPr>
              <a:t>Pourquoi des réducteurs de pression ?</a:t>
            </a:r>
          </a:p>
        </p:txBody>
      </p:sp>
      <p:sp>
        <p:nvSpPr>
          <p:cNvPr id="6" name="Rectangle 5"/>
          <p:cNvSpPr/>
          <p:nvPr/>
        </p:nvSpPr>
        <p:spPr>
          <a:xfrm>
            <a:off x="502920" y="1170432"/>
            <a:ext cx="1188720" cy="640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457200" y="6382512"/>
            <a:ext cx="11292840" cy="0"/>
          </a:xfrm>
          <a:prstGeom prst="line">
            <a:avLst/>
          </a:prstGeom>
          <a:ln>
            <a:solidFill>
              <a:srgbClr val="C8D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19088"/>
            <a:ext cx="8229600" cy="320040"/>
          </a:xfrm>
          <a:prstGeom prst="rect">
            <a:avLst/>
          </a:prstGeom>
          <a:noFill/>
        </p:spPr>
        <p:txBody>
          <a:bodyPr wrap="square" anchor="t" lIns="45720" rIns="45720">
            <a:spAutoFit/>
          </a:bodyPr>
          <a:lstStyle/>
          <a:p>
            <a:pPr algn="l"/>
            <a:r>
              <a:rPr sz="1100" b="1" i="1">
                <a:solidFill>
                  <a:srgbClr val="5B6770"/>
                </a:solidFill>
                <a:latin typeface="Arial"/>
              </a:rPr>
              <a:t>Rédigé et présenté par </a:t>
            </a:r>
            <a:r>
              <a:rPr sz="1100" b="1" i="1">
                <a:solidFill>
                  <a:srgbClr val="E65100"/>
                </a:solidFill>
                <a:latin typeface="Arial"/>
              </a:rPr>
              <a:t>[À COMPLÉTER : NOM Prénom]</a:t>
            </a:r>
            <a:r>
              <a:rPr sz="1100" b="1" i="1">
                <a:solidFill>
                  <a:srgbClr val="5B6770"/>
                </a:solidFill>
                <a:latin typeface="Arial"/>
              </a:rPr>
              <a:t>  —  Froid et climatisation</a:t>
            </a:r>
          </a:p>
        </p:txBody>
      </p:sp>
      <p:pic>
        <p:nvPicPr>
          <p:cNvPr id="9" name="Picture 8" descr="colonne_montante.png"/>
          <p:cNvPicPr>
            <a:picLocks noChangeAspect="1"/>
          </p:cNvPicPr>
          <p:nvPr/>
        </p:nvPicPr>
        <p:blipFill>
          <a:blip r:embed="rId3"/>
          <a:stretch>
            <a:fillRect/>
          </a:stretch>
        </p:blipFill>
        <p:spPr>
          <a:xfrm>
            <a:off x="619154" y="1371600"/>
            <a:ext cx="6076890" cy="4846319"/>
          </a:xfrm>
          <a:prstGeom prst="rect">
            <a:avLst/>
          </a:prstGeom>
        </p:spPr>
      </p:pic>
      <p:sp>
        <p:nvSpPr>
          <p:cNvPr id="10" name="Rectangle 9"/>
          <p:cNvSpPr/>
          <p:nvPr/>
        </p:nvSpPr>
        <p:spPr>
          <a:xfrm>
            <a:off x="7223760" y="1463040"/>
            <a:ext cx="4526280" cy="46634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60" y="1463040"/>
            <a:ext cx="4526280" cy="82296"/>
          </a:xfrm>
          <a:prstGeom prst="rect">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60920" y="1618488"/>
            <a:ext cx="4251960" cy="411480"/>
          </a:xfrm>
          <a:prstGeom prst="rect">
            <a:avLst/>
          </a:prstGeom>
          <a:noFill/>
        </p:spPr>
        <p:txBody>
          <a:bodyPr wrap="square" anchor="t" lIns="45720" rIns="45720">
            <a:spAutoFit/>
          </a:bodyPr>
          <a:lstStyle/>
          <a:p>
            <a:pPr algn="l"/>
            <a:r>
              <a:rPr sz="1700" b="1" i="0">
                <a:solidFill>
                  <a:srgbClr val="E65100"/>
                </a:solidFill>
                <a:latin typeface="Arial"/>
              </a:rPr>
              <a:t>Justification</a:t>
            </a:r>
          </a:p>
        </p:txBody>
      </p:sp>
      <p:sp>
        <p:nvSpPr>
          <p:cNvPr id="13" name="TextBox 12"/>
          <p:cNvSpPr txBox="1"/>
          <p:nvPr/>
        </p:nvSpPr>
        <p:spPr>
          <a:xfrm>
            <a:off x="7333488" y="2103120"/>
            <a:ext cx="4297680" cy="3931920"/>
          </a:xfrm>
          <a:prstGeom prst="rect">
            <a:avLst/>
          </a:prstGeom>
          <a:noFill/>
        </p:spPr>
        <p:txBody>
          <a:bodyPr wrap="square">
            <a:spAutoFit/>
          </a:bodyPr>
          <a:lstStyle/>
          <a:p>
            <a:pPr>
              <a:spcAft>
                <a:spcPts val="400"/>
              </a:spcAft>
            </a:pPr>
            <a:r>
              <a:rPr sz="1000" b="1" i="0">
                <a:solidFill>
                  <a:srgbClr val="2E7D32"/>
                </a:solidFill>
                <a:latin typeface="Arial"/>
              </a:rPr>
              <a:t>◆  </a:t>
            </a:r>
            <a:r>
              <a:rPr sz="1400" b="0" i="0">
                <a:solidFill>
                  <a:srgbClr val="222B33"/>
                </a:solidFill>
                <a:latin typeface="Arial"/>
              </a:rPr>
              <a:t>−0,3 bar par étage</a:t>
            </a:r>
          </a:p>
          <a:p>
            <a:pPr>
              <a:spcAft>
                <a:spcPts val="400"/>
              </a:spcAft>
            </a:pPr>
            <a:r>
              <a:rPr sz="1000" b="1" i="0">
                <a:solidFill>
                  <a:srgbClr val="2E7D32"/>
                </a:solidFill>
                <a:latin typeface="Arial"/>
              </a:rPr>
              <a:t>◆  </a:t>
            </a:r>
            <a:r>
              <a:rPr sz="1400" b="0" i="0">
                <a:solidFill>
                  <a:srgbClr val="222B33"/>
                </a:solidFill>
                <a:latin typeface="Arial"/>
              </a:rPr>
              <a:t>RDC à R+4 : P &gt; 3 bar</a:t>
            </a:r>
          </a:p>
          <a:p>
            <a:pPr>
              <a:spcAft>
                <a:spcPts val="400"/>
              </a:spcAft>
            </a:pPr>
            <a:r>
              <a:rPr sz="1000" b="1" i="0">
                <a:solidFill>
                  <a:srgbClr val="2E7D32"/>
                </a:solidFill>
                <a:latin typeface="Arial"/>
              </a:rPr>
              <a:t>◆  </a:t>
            </a:r>
            <a:r>
              <a:rPr sz="1400" b="0" i="0">
                <a:solidFill>
                  <a:srgbClr val="222B33"/>
                </a:solidFill>
                <a:latin typeface="Arial"/>
              </a:rPr>
              <a:t>Réducteur réglé à 3 bar + manomètre</a:t>
            </a:r>
          </a:p>
          <a:p>
            <a:pPr>
              <a:spcAft>
                <a:spcPts val="400"/>
              </a:spcAft>
            </a:pPr>
            <a:r>
              <a:rPr sz="1000" b="1" i="0">
                <a:solidFill>
                  <a:srgbClr val="2E7D32"/>
                </a:solidFill>
                <a:latin typeface="Arial"/>
              </a:rPr>
              <a:t>◆  </a:t>
            </a:r>
            <a:r>
              <a:rPr sz="1400" b="0" i="0">
                <a:solidFill>
                  <a:srgbClr val="222B33"/>
                </a:solidFill>
                <a:latin typeface="Arial"/>
              </a:rPr>
              <a:t>Rapport de réduction &lt; 3:1 : pas de cavitation</a:t>
            </a:r>
          </a:p>
          <a:p>
            <a:pPr>
              <a:spcAft>
                <a:spcPts val="400"/>
              </a:spcAft>
            </a:pPr>
            <a:r>
              <a:rPr sz="1000" b="1" i="0">
                <a:solidFill>
                  <a:srgbClr val="2E7D32"/>
                </a:solidFill>
                <a:latin typeface="Arial"/>
              </a:rPr>
              <a:t>◆  </a:t>
            </a:r>
            <a:r>
              <a:rPr sz="1400" b="0" i="0">
                <a:solidFill>
                  <a:srgbClr val="222B33"/>
                </a:solidFill>
                <a:latin typeface="Arial"/>
              </a:rPr>
              <a:t>Protège la robinetterie, limite la consommation</a:t>
            </a:r>
          </a:p>
        </p:txBody>
      </p:sp>
      <p:sp>
        <p:nvSpPr>
          <p:cNvPr id="14" name="Rectangle 13"/>
          <p:cNvSpPr/>
          <p:nvPr/>
        </p:nvSpPr>
        <p:spPr>
          <a:xfrm>
            <a:off x="10972800" y="6419088"/>
            <a:ext cx="777240"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Arial"/>
              </a:rP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DDE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
            <a:ext cx="8229600" cy="274320"/>
          </a:xfrm>
          <a:prstGeom prst="rect">
            <a:avLst/>
          </a:prstGeom>
          <a:noFill/>
        </p:spPr>
        <p:txBody>
          <a:bodyPr wrap="square" anchor="t" lIns="45720" rIns="45720">
            <a:spAutoFit/>
          </a:bodyPr>
          <a:lstStyle/>
          <a:p>
            <a:pPr algn="l"/>
            <a:r>
              <a:rPr sz="1000" b="1" i="1">
                <a:solidFill>
                  <a:srgbClr val="1B4D1F"/>
                </a:solidFill>
                <a:latin typeface="Arial"/>
              </a:rPr>
              <a:t>Plomberie sanitaire — cas de </a:t>
            </a:r>
            <a:r>
              <a:rPr sz="1000" b="1" i="1">
                <a:solidFill>
                  <a:srgbClr val="E65100"/>
                </a:solidFill>
                <a:latin typeface="Arial"/>
              </a:rPr>
              <a:t>[À COMPLÉTER : SIGLE]</a:t>
            </a:r>
          </a:p>
        </p:txBody>
      </p:sp>
      <p:sp>
        <p:nvSpPr>
          <p:cNvPr id="4" name="TextBox 3"/>
          <p:cNvSpPr txBox="1"/>
          <p:nvPr/>
        </p:nvSpPr>
        <p:spPr>
          <a:xfrm>
            <a:off x="6400800" y="18288"/>
            <a:ext cx="5486400" cy="274320"/>
          </a:xfrm>
          <a:prstGeom prst="rect">
            <a:avLst/>
          </a:prstGeom>
          <a:noFill/>
        </p:spPr>
        <p:txBody>
          <a:bodyPr wrap="none">
            <a:spAutoFit/>
          </a:bodyPr>
          <a:lstStyle/>
          <a:p>
            <a:pPr algn="r"/>
            <a:r>
              <a:rPr sz="1000" b="0" i="0">
                <a:solidFill>
                  <a:srgbClr val="5B6770"/>
                </a:solidFill>
                <a:latin typeface="Arial"/>
              </a:rPr>
              <a:t>Introduction</a:t>
            </a:r>
            <a:r>
              <a:rPr sz="1000" b="0" i="0">
                <a:solidFill>
                  <a:srgbClr val="5B6770"/>
                </a:solidFill>
                <a:latin typeface="Arial"/>
              </a:rPr>
              <a:t>  ·  </a:t>
            </a:r>
            <a:r>
              <a:rPr sz="1000" b="0" i="0">
                <a:solidFill>
                  <a:srgbClr val="5B6770"/>
                </a:solidFill>
                <a:latin typeface="Arial"/>
              </a:rPr>
              <a:t>Entreprise</a:t>
            </a:r>
            <a:r>
              <a:rPr sz="1000" b="0" i="0">
                <a:solidFill>
                  <a:srgbClr val="5B6770"/>
                </a:solidFill>
                <a:latin typeface="Arial"/>
              </a:rPr>
              <a:t>  ·  </a:t>
            </a:r>
            <a:r>
              <a:rPr sz="1000" b="0" i="0">
                <a:solidFill>
                  <a:srgbClr val="5B6770"/>
                </a:solidFill>
                <a:latin typeface="Arial"/>
              </a:rPr>
              <a:t>Stage</a:t>
            </a:r>
            <a:r>
              <a:rPr sz="1000" b="0" i="0">
                <a:solidFill>
                  <a:srgbClr val="5B6770"/>
                </a:solidFill>
                <a:latin typeface="Arial"/>
              </a:rPr>
              <a:t>  ·  </a:t>
            </a:r>
            <a:r>
              <a:rPr sz="1000" b="1" i="0">
                <a:solidFill>
                  <a:srgbClr val="E65100"/>
                </a:solidFill>
                <a:latin typeface="Arial"/>
              </a:rPr>
              <a:t>Plomberie</a:t>
            </a:r>
            <a:r>
              <a:rPr sz="1000" b="0" i="0">
                <a:solidFill>
                  <a:srgbClr val="5B6770"/>
                </a:solidFill>
                <a:latin typeface="Arial"/>
              </a:rPr>
              <a:t>  ·  </a:t>
            </a:r>
            <a:r>
              <a:rPr sz="1000" b="0" i="0">
                <a:solidFill>
                  <a:srgbClr val="5B6770"/>
                </a:solidFill>
                <a:latin typeface="Arial"/>
              </a:rPr>
              <a:t>Critiques</a:t>
            </a:r>
            <a:r>
              <a:rPr sz="1000" b="0" i="0">
                <a:solidFill>
                  <a:srgbClr val="5B6770"/>
                </a:solidFill>
                <a:latin typeface="Arial"/>
              </a:rPr>
              <a:t>  ·  </a:t>
            </a:r>
            <a:r>
              <a:rPr sz="1000" b="0" i="0">
                <a:solidFill>
                  <a:srgbClr val="5B6770"/>
                </a:solidFill>
                <a:latin typeface="Arial"/>
              </a:rPr>
              <a:t>Conclusion</a:t>
            </a:r>
          </a:p>
        </p:txBody>
      </p:sp>
      <p:sp>
        <p:nvSpPr>
          <p:cNvPr id="5" name="TextBox 4"/>
          <p:cNvSpPr txBox="1"/>
          <p:nvPr/>
        </p:nvSpPr>
        <p:spPr>
          <a:xfrm>
            <a:off x="457200" y="457200"/>
            <a:ext cx="11247120" cy="731520"/>
          </a:xfrm>
          <a:prstGeom prst="rect">
            <a:avLst/>
          </a:prstGeom>
          <a:noFill/>
        </p:spPr>
        <p:txBody>
          <a:bodyPr wrap="square" anchor="ctr" lIns="45720" rIns="45720">
            <a:spAutoFit/>
          </a:bodyPr>
          <a:lstStyle/>
          <a:p>
            <a:pPr algn="l"/>
            <a:r>
              <a:rPr sz="2800" b="1" i="0">
                <a:solidFill>
                  <a:srgbClr val="1B4D1F"/>
                </a:solidFill>
                <a:latin typeface="Arial"/>
              </a:rPr>
              <a:t>Mise en œuvre sur le chantier</a:t>
            </a:r>
          </a:p>
        </p:txBody>
      </p:sp>
      <p:sp>
        <p:nvSpPr>
          <p:cNvPr id="6" name="Rectangle 5"/>
          <p:cNvSpPr/>
          <p:nvPr/>
        </p:nvSpPr>
        <p:spPr>
          <a:xfrm>
            <a:off x="502920" y="1170432"/>
            <a:ext cx="1188720" cy="640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457200" y="6382512"/>
            <a:ext cx="11292840" cy="0"/>
          </a:xfrm>
          <a:prstGeom prst="line">
            <a:avLst/>
          </a:prstGeom>
          <a:ln>
            <a:solidFill>
              <a:srgbClr val="C8D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19088"/>
            <a:ext cx="8229600" cy="320040"/>
          </a:xfrm>
          <a:prstGeom prst="rect">
            <a:avLst/>
          </a:prstGeom>
          <a:noFill/>
        </p:spPr>
        <p:txBody>
          <a:bodyPr wrap="square" anchor="t" lIns="45720" rIns="45720">
            <a:spAutoFit/>
          </a:bodyPr>
          <a:lstStyle/>
          <a:p>
            <a:pPr algn="l"/>
            <a:r>
              <a:rPr sz="1100" b="1" i="1">
                <a:solidFill>
                  <a:srgbClr val="5B6770"/>
                </a:solidFill>
                <a:latin typeface="Arial"/>
              </a:rPr>
              <a:t>Rédigé et présenté par </a:t>
            </a:r>
            <a:r>
              <a:rPr sz="1100" b="1" i="1">
                <a:solidFill>
                  <a:srgbClr val="E65100"/>
                </a:solidFill>
                <a:latin typeface="Arial"/>
              </a:rPr>
              <a:t>[À COMPLÉTER : NOM Prénom]</a:t>
            </a:r>
            <a:r>
              <a:rPr sz="1100" b="1" i="1">
                <a:solidFill>
                  <a:srgbClr val="5B6770"/>
                </a:solidFill>
                <a:latin typeface="Arial"/>
              </a:rPr>
              <a:t>  —  Froid et climatisation</a:t>
            </a:r>
          </a:p>
        </p:txBody>
      </p:sp>
      <p:sp>
        <p:nvSpPr>
          <p:cNvPr id="9" name="Rectangle 8"/>
          <p:cNvSpPr/>
          <p:nvPr/>
        </p:nvSpPr>
        <p:spPr>
          <a:xfrm>
            <a:off x="457200" y="1417320"/>
            <a:ext cx="2697480" cy="475488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17320"/>
            <a:ext cx="2697480" cy="7315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1554480"/>
            <a:ext cx="2514600" cy="411480"/>
          </a:xfrm>
          <a:prstGeom prst="rect">
            <a:avLst/>
          </a:prstGeom>
          <a:noFill/>
        </p:spPr>
        <p:txBody>
          <a:bodyPr wrap="square" anchor="t" lIns="45720" rIns="45720">
            <a:spAutoFit/>
          </a:bodyPr>
          <a:lstStyle/>
          <a:p>
            <a:pPr algn="ctr"/>
            <a:r>
              <a:rPr sz="1600" b="1" i="0">
                <a:solidFill>
                  <a:srgbClr val="1B4D1F"/>
                </a:solidFill>
                <a:latin typeface="Arial"/>
              </a:rPr>
              <a:t>Polyfusion PPR</a:t>
            </a:r>
          </a:p>
        </p:txBody>
      </p:sp>
      <p:pic>
        <p:nvPicPr>
          <p:cNvPr id="12" name="Picture 11" descr="fig_polyfuseur.png"/>
          <p:cNvPicPr>
            <a:picLocks noChangeAspect="1"/>
          </p:cNvPicPr>
          <p:nvPr/>
        </p:nvPicPr>
        <p:blipFill>
          <a:blip r:embed="rId3"/>
          <a:stretch>
            <a:fillRect/>
          </a:stretch>
        </p:blipFill>
        <p:spPr>
          <a:xfrm>
            <a:off x="598931" y="2011680"/>
            <a:ext cx="2414016" cy="1508760"/>
          </a:xfrm>
          <a:prstGeom prst="rect">
            <a:avLst/>
          </a:prstGeom>
        </p:spPr>
      </p:pic>
      <p:sp>
        <p:nvSpPr>
          <p:cNvPr id="13" name="TextBox 12"/>
          <p:cNvSpPr txBox="1"/>
          <p:nvPr/>
        </p:nvSpPr>
        <p:spPr>
          <a:xfrm>
            <a:off x="548640" y="3657600"/>
            <a:ext cx="2560320" cy="2377440"/>
          </a:xfrm>
          <a:prstGeom prst="rect">
            <a:avLst/>
          </a:prstGeom>
          <a:noFill/>
        </p:spPr>
        <p:txBody>
          <a:bodyPr wrap="square">
            <a:spAutoFit/>
          </a:bodyPr>
          <a:lstStyle/>
          <a:p>
            <a:pPr>
              <a:spcAft>
                <a:spcPts val="300"/>
              </a:spcAft>
            </a:pPr>
            <a:r>
              <a:rPr sz="900" b="1" i="0">
                <a:solidFill>
                  <a:srgbClr val="2E7D32"/>
                </a:solidFill>
                <a:latin typeface="Arial"/>
              </a:rPr>
              <a:t>◆  </a:t>
            </a:r>
            <a:r>
              <a:rPr sz="1300" b="0" i="0">
                <a:solidFill>
                  <a:srgbClr val="222B33"/>
                </a:solidFill>
                <a:latin typeface="Arial"/>
              </a:rPr>
              <a:t>Matrices à 260 °C</a:t>
            </a:r>
          </a:p>
          <a:p>
            <a:pPr>
              <a:spcAft>
                <a:spcPts val="300"/>
              </a:spcAft>
            </a:pPr>
            <a:r>
              <a:rPr sz="900" b="1" i="0">
                <a:solidFill>
                  <a:srgbClr val="2E7D32"/>
                </a:solidFill>
                <a:latin typeface="Arial"/>
              </a:rPr>
              <a:t>◆  </a:t>
            </a:r>
            <a:r>
              <a:rPr sz="1300" b="0" i="0">
                <a:solidFill>
                  <a:srgbClr val="222B33"/>
                </a:solidFill>
                <a:latin typeface="Arial"/>
              </a:rPr>
              <a:t>Coupe d'équerre, repère</a:t>
            </a:r>
          </a:p>
          <a:p>
            <a:pPr>
              <a:spcAft>
                <a:spcPts val="300"/>
              </a:spcAft>
            </a:pPr>
            <a:r>
              <a:rPr sz="900" b="1" i="0">
                <a:solidFill>
                  <a:srgbClr val="2E7D32"/>
                </a:solidFill>
                <a:latin typeface="Arial"/>
              </a:rPr>
              <a:t>◆  </a:t>
            </a:r>
            <a:r>
              <a:rPr sz="1300" b="0" i="0">
                <a:solidFill>
                  <a:srgbClr val="222B33"/>
                </a:solidFill>
                <a:latin typeface="Arial"/>
              </a:rPr>
              <a:t>Chauffe, emboîtement sans rotation</a:t>
            </a:r>
          </a:p>
        </p:txBody>
      </p:sp>
      <p:sp>
        <p:nvSpPr>
          <p:cNvPr id="14" name="Rectangle 13"/>
          <p:cNvSpPr/>
          <p:nvPr/>
        </p:nvSpPr>
        <p:spPr>
          <a:xfrm>
            <a:off x="3291840" y="1417320"/>
            <a:ext cx="2697480" cy="475488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91840" y="1417320"/>
            <a:ext cx="2697480" cy="7315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83280" y="1554480"/>
            <a:ext cx="2514600" cy="411480"/>
          </a:xfrm>
          <a:prstGeom prst="rect">
            <a:avLst/>
          </a:prstGeom>
          <a:noFill/>
        </p:spPr>
        <p:txBody>
          <a:bodyPr wrap="square" anchor="t" lIns="45720" rIns="45720">
            <a:spAutoFit/>
          </a:bodyPr>
          <a:lstStyle/>
          <a:p>
            <a:pPr algn="ctr"/>
            <a:r>
              <a:rPr sz="1600" b="1" i="0">
                <a:solidFill>
                  <a:srgbClr val="1B4D1F"/>
                </a:solidFill>
                <a:latin typeface="Arial"/>
              </a:rPr>
              <a:t>Réducteur + manomètre</a:t>
            </a:r>
          </a:p>
        </p:txBody>
      </p:sp>
      <p:pic>
        <p:nvPicPr>
          <p:cNvPr id="17" name="Picture 16" descr="fig_reducteur_montage.png"/>
          <p:cNvPicPr>
            <a:picLocks noChangeAspect="1"/>
          </p:cNvPicPr>
          <p:nvPr/>
        </p:nvPicPr>
        <p:blipFill>
          <a:blip r:embed="rId4"/>
          <a:stretch>
            <a:fillRect/>
          </a:stretch>
        </p:blipFill>
        <p:spPr>
          <a:xfrm>
            <a:off x="3433572" y="2011680"/>
            <a:ext cx="2414016" cy="1508760"/>
          </a:xfrm>
          <a:prstGeom prst="rect">
            <a:avLst/>
          </a:prstGeom>
        </p:spPr>
      </p:pic>
      <p:sp>
        <p:nvSpPr>
          <p:cNvPr id="18" name="TextBox 17"/>
          <p:cNvSpPr txBox="1"/>
          <p:nvPr/>
        </p:nvSpPr>
        <p:spPr>
          <a:xfrm>
            <a:off x="3383280" y="3657600"/>
            <a:ext cx="2560320" cy="2377440"/>
          </a:xfrm>
          <a:prstGeom prst="rect">
            <a:avLst/>
          </a:prstGeom>
          <a:noFill/>
        </p:spPr>
        <p:txBody>
          <a:bodyPr wrap="square">
            <a:spAutoFit/>
          </a:bodyPr>
          <a:lstStyle/>
          <a:p>
            <a:pPr>
              <a:spcAft>
                <a:spcPts val="300"/>
              </a:spcAft>
            </a:pPr>
            <a:r>
              <a:rPr sz="900" b="1" i="0">
                <a:solidFill>
                  <a:srgbClr val="2E7D32"/>
                </a:solidFill>
                <a:latin typeface="Arial"/>
              </a:rPr>
              <a:t>◆  </a:t>
            </a:r>
            <a:r>
              <a:rPr sz="1300" b="0" i="0">
                <a:solidFill>
                  <a:srgbClr val="222B33"/>
                </a:solidFill>
                <a:latin typeface="Arial"/>
              </a:rPr>
              <a:t>Sens de la flèche</a:t>
            </a:r>
          </a:p>
          <a:p>
            <a:pPr>
              <a:spcAft>
                <a:spcPts val="300"/>
              </a:spcAft>
            </a:pPr>
            <a:r>
              <a:rPr sz="900" b="1" i="0">
                <a:solidFill>
                  <a:srgbClr val="2E7D32"/>
                </a:solidFill>
                <a:latin typeface="Arial"/>
              </a:rPr>
              <a:t>◆  </a:t>
            </a:r>
            <a:r>
              <a:rPr sz="1300" b="0" i="0">
                <a:solidFill>
                  <a:srgbClr val="222B33"/>
                </a:solidFill>
                <a:latin typeface="Arial"/>
              </a:rPr>
              <a:t>Entre deux vannes</a:t>
            </a:r>
          </a:p>
          <a:p>
            <a:pPr>
              <a:spcAft>
                <a:spcPts val="300"/>
              </a:spcAft>
            </a:pPr>
            <a:r>
              <a:rPr sz="900" b="1" i="0">
                <a:solidFill>
                  <a:srgbClr val="2E7D32"/>
                </a:solidFill>
                <a:latin typeface="Arial"/>
              </a:rPr>
              <a:t>◆  </a:t>
            </a:r>
            <a:r>
              <a:rPr sz="1300" b="0" i="0">
                <a:solidFill>
                  <a:srgbClr val="222B33"/>
                </a:solidFill>
                <a:latin typeface="Arial"/>
              </a:rPr>
              <a:t>Réglage à 3 bar</a:t>
            </a:r>
          </a:p>
        </p:txBody>
      </p:sp>
      <p:sp>
        <p:nvSpPr>
          <p:cNvPr id="19" name="Rectangle 18"/>
          <p:cNvSpPr/>
          <p:nvPr/>
        </p:nvSpPr>
        <p:spPr>
          <a:xfrm>
            <a:off x="6126480" y="1417320"/>
            <a:ext cx="2697480" cy="475488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6480" y="1417320"/>
            <a:ext cx="2697480" cy="7315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0" y="1554480"/>
            <a:ext cx="2514600" cy="411480"/>
          </a:xfrm>
          <a:prstGeom prst="rect">
            <a:avLst/>
          </a:prstGeom>
          <a:noFill/>
        </p:spPr>
        <p:txBody>
          <a:bodyPr wrap="square" anchor="t" lIns="45720" rIns="45720">
            <a:spAutoFit/>
          </a:bodyPr>
          <a:lstStyle/>
          <a:p>
            <a:pPr algn="ctr"/>
            <a:r>
              <a:rPr sz="1600" b="1" i="0">
                <a:solidFill>
                  <a:srgbClr val="1B4D1F"/>
                </a:solidFill>
                <a:latin typeface="Arial"/>
              </a:rPr>
              <a:t>Isolation</a:t>
            </a:r>
          </a:p>
        </p:txBody>
      </p:sp>
      <p:pic>
        <p:nvPicPr>
          <p:cNvPr id="22" name="Picture 21" descr="fig_isolation_pose.png"/>
          <p:cNvPicPr>
            <a:picLocks noChangeAspect="1"/>
          </p:cNvPicPr>
          <p:nvPr/>
        </p:nvPicPr>
        <p:blipFill>
          <a:blip r:embed="rId5"/>
          <a:stretch>
            <a:fillRect/>
          </a:stretch>
        </p:blipFill>
        <p:spPr>
          <a:xfrm>
            <a:off x="6268212" y="2011680"/>
            <a:ext cx="2414016" cy="1508760"/>
          </a:xfrm>
          <a:prstGeom prst="rect">
            <a:avLst/>
          </a:prstGeom>
        </p:spPr>
      </p:pic>
      <p:sp>
        <p:nvSpPr>
          <p:cNvPr id="23" name="TextBox 22"/>
          <p:cNvSpPr txBox="1"/>
          <p:nvPr/>
        </p:nvSpPr>
        <p:spPr>
          <a:xfrm>
            <a:off x="6217920" y="3657600"/>
            <a:ext cx="2560320" cy="2377440"/>
          </a:xfrm>
          <a:prstGeom prst="rect">
            <a:avLst/>
          </a:prstGeom>
          <a:noFill/>
        </p:spPr>
        <p:txBody>
          <a:bodyPr wrap="square">
            <a:spAutoFit/>
          </a:bodyPr>
          <a:lstStyle/>
          <a:p>
            <a:pPr>
              <a:spcAft>
                <a:spcPts val="300"/>
              </a:spcAft>
            </a:pPr>
            <a:r>
              <a:rPr sz="900" b="1" i="0">
                <a:solidFill>
                  <a:srgbClr val="2E7D32"/>
                </a:solidFill>
                <a:latin typeface="Arial"/>
              </a:rPr>
              <a:t>◆  </a:t>
            </a:r>
            <a:r>
              <a:rPr sz="1300" b="0" i="0">
                <a:solidFill>
                  <a:srgbClr val="222B33"/>
                </a:solidFill>
                <a:latin typeface="Arial"/>
              </a:rPr>
              <a:t>Mousse à cellules fermées</a:t>
            </a:r>
          </a:p>
          <a:p>
            <a:pPr>
              <a:spcAft>
                <a:spcPts val="300"/>
              </a:spcAft>
            </a:pPr>
            <a:r>
              <a:rPr sz="900" b="1" i="0">
                <a:solidFill>
                  <a:srgbClr val="2E7D32"/>
                </a:solidFill>
                <a:latin typeface="Arial"/>
              </a:rPr>
              <a:t>◆  </a:t>
            </a:r>
            <a:r>
              <a:rPr sz="1300" b="0" i="0">
                <a:solidFill>
                  <a:srgbClr val="222B33"/>
                </a:solidFill>
                <a:latin typeface="Arial"/>
              </a:rPr>
              <a:t>Collage des fentes</a:t>
            </a:r>
          </a:p>
          <a:p>
            <a:pPr>
              <a:spcAft>
                <a:spcPts val="300"/>
              </a:spcAft>
            </a:pPr>
            <a:r>
              <a:rPr sz="900" b="1" i="0">
                <a:solidFill>
                  <a:srgbClr val="2E7D32"/>
                </a:solidFill>
                <a:latin typeface="Arial"/>
              </a:rPr>
              <a:t>◆  </a:t>
            </a:r>
            <a:r>
              <a:rPr sz="1300" b="0" i="0">
                <a:solidFill>
                  <a:srgbClr val="222B33"/>
                </a:solidFill>
                <a:latin typeface="Arial"/>
              </a:rPr>
              <a:t>Anti-condensation</a:t>
            </a:r>
          </a:p>
        </p:txBody>
      </p:sp>
      <p:sp>
        <p:nvSpPr>
          <p:cNvPr id="24" name="Rectangle 23"/>
          <p:cNvSpPr/>
          <p:nvPr/>
        </p:nvSpPr>
        <p:spPr>
          <a:xfrm>
            <a:off x="8961120" y="1417320"/>
            <a:ext cx="2697480" cy="475488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61120" y="1417320"/>
            <a:ext cx="2697480" cy="73152"/>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0" y="1554480"/>
            <a:ext cx="2514600" cy="411480"/>
          </a:xfrm>
          <a:prstGeom prst="rect">
            <a:avLst/>
          </a:prstGeom>
          <a:noFill/>
        </p:spPr>
        <p:txBody>
          <a:bodyPr wrap="square" anchor="t" lIns="45720" rIns="45720">
            <a:spAutoFit/>
          </a:bodyPr>
          <a:lstStyle/>
          <a:p>
            <a:pPr algn="ctr"/>
            <a:r>
              <a:rPr sz="1600" b="1" i="0">
                <a:solidFill>
                  <a:srgbClr val="1B4D1F"/>
                </a:solidFill>
                <a:latin typeface="Arial"/>
              </a:rPr>
              <a:t>Essai d'étanchéité</a:t>
            </a:r>
          </a:p>
        </p:txBody>
      </p:sp>
      <p:pic>
        <p:nvPicPr>
          <p:cNvPr id="27" name="Picture 26" descr="fig_essai_etancheite.png"/>
          <p:cNvPicPr>
            <a:picLocks noChangeAspect="1"/>
          </p:cNvPicPr>
          <p:nvPr/>
        </p:nvPicPr>
        <p:blipFill>
          <a:blip r:embed="rId6"/>
          <a:stretch>
            <a:fillRect/>
          </a:stretch>
        </p:blipFill>
        <p:spPr>
          <a:xfrm>
            <a:off x="9102852" y="2011680"/>
            <a:ext cx="2414016" cy="1508760"/>
          </a:xfrm>
          <a:prstGeom prst="rect">
            <a:avLst/>
          </a:prstGeom>
        </p:spPr>
      </p:pic>
      <p:sp>
        <p:nvSpPr>
          <p:cNvPr id="28" name="TextBox 27"/>
          <p:cNvSpPr txBox="1"/>
          <p:nvPr/>
        </p:nvSpPr>
        <p:spPr>
          <a:xfrm>
            <a:off x="9052560" y="3657600"/>
            <a:ext cx="2560320" cy="2377440"/>
          </a:xfrm>
          <a:prstGeom prst="rect">
            <a:avLst/>
          </a:prstGeom>
          <a:noFill/>
        </p:spPr>
        <p:txBody>
          <a:bodyPr wrap="square">
            <a:spAutoFit/>
          </a:bodyPr>
          <a:lstStyle/>
          <a:p>
            <a:pPr>
              <a:spcAft>
                <a:spcPts val="300"/>
              </a:spcAft>
            </a:pPr>
            <a:r>
              <a:rPr sz="900" b="1" i="0">
                <a:solidFill>
                  <a:srgbClr val="2E7D32"/>
                </a:solidFill>
                <a:latin typeface="Arial"/>
              </a:rPr>
              <a:t>◆  </a:t>
            </a:r>
            <a:r>
              <a:rPr sz="1300" b="0" i="0">
                <a:solidFill>
                  <a:srgbClr val="222B33"/>
                </a:solidFill>
                <a:latin typeface="Arial"/>
              </a:rPr>
              <a:t>Purge, mise en pression</a:t>
            </a:r>
          </a:p>
          <a:p>
            <a:pPr>
              <a:spcAft>
                <a:spcPts val="300"/>
              </a:spcAft>
            </a:pPr>
            <a:r>
              <a:rPr sz="900" b="1" i="0">
                <a:solidFill>
                  <a:srgbClr val="2E7D32"/>
                </a:solidFill>
                <a:latin typeface="Arial"/>
              </a:rPr>
              <a:t>◆  </a:t>
            </a:r>
            <a:r>
              <a:rPr sz="1300" b="0" i="0">
                <a:solidFill>
                  <a:srgbClr val="222B33"/>
                </a:solidFill>
                <a:latin typeface="Arial"/>
              </a:rPr>
              <a:t>Durée prescrite</a:t>
            </a:r>
          </a:p>
          <a:p>
            <a:pPr>
              <a:spcAft>
                <a:spcPts val="300"/>
              </a:spcAft>
            </a:pPr>
            <a:r>
              <a:rPr sz="900" b="1" i="0">
                <a:solidFill>
                  <a:srgbClr val="2E7D32"/>
                </a:solidFill>
                <a:latin typeface="Arial"/>
              </a:rPr>
              <a:t>◆  </a:t>
            </a:r>
            <a:r>
              <a:rPr sz="1300" b="0" i="0">
                <a:solidFill>
                  <a:srgbClr val="222B33"/>
                </a:solidFill>
                <a:latin typeface="Arial"/>
              </a:rPr>
              <a:t>Fiche d'autocontrôle</a:t>
            </a:r>
          </a:p>
        </p:txBody>
      </p:sp>
      <p:sp>
        <p:nvSpPr>
          <p:cNvPr id="29" name="Rectangle 28"/>
          <p:cNvSpPr/>
          <p:nvPr/>
        </p:nvSpPr>
        <p:spPr>
          <a:xfrm>
            <a:off x="10972800" y="6419088"/>
            <a:ext cx="777240"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Arial"/>
              </a:rP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DDE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
            <a:ext cx="8229600" cy="274320"/>
          </a:xfrm>
          <a:prstGeom prst="rect">
            <a:avLst/>
          </a:prstGeom>
          <a:noFill/>
        </p:spPr>
        <p:txBody>
          <a:bodyPr wrap="square" anchor="t" lIns="45720" rIns="45720">
            <a:spAutoFit/>
          </a:bodyPr>
          <a:lstStyle/>
          <a:p>
            <a:pPr algn="l"/>
            <a:r>
              <a:rPr sz="1000" b="1" i="1">
                <a:solidFill>
                  <a:srgbClr val="1B4D1F"/>
                </a:solidFill>
                <a:latin typeface="Arial"/>
              </a:rPr>
              <a:t>Plomberie sanitaire — cas de </a:t>
            </a:r>
            <a:r>
              <a:rPr sz="1000" b="1" i="1">
                <a:solidFill>
                  <a:srgbClr val="E65100"/>
                </a:solidFill>
                <a:latin typeface="Arial"/>
              </a:rPr>
              <a:t>[À COMPLÉTER : SIGLE]</a:t>
            </a:r>
          </a:p>
        </p:txBody>
      </p:sp>
      <p:sp>
        <p:nvSpPr>
          <p:cNvPr id="4" name="TextBox 3"/>
          <p:cNvSpPr txBox="1"/>
          <p:nvPr/>
        </p:nvSpPr>
        <p:spPr>
          <a:xfrm>
            <a:off x="6400800" y="18288"/>
            <a:ext cx="5486400" cy="274320"/>
          </a:xfrm>
          <a:prstGeom prst="rect">
            <a:avLst/>
          </a:prstGeom>
          <a:noFill/>
        </p:spPr>
        <p:txBody>
          <a:bodyPr wrap="none">
            <a:spAutoFit/>
          </a:bodyPr>
          <a:lstStyle/>
          <a:p>
            <a:pPr algn="r"/>
            <a:r>
              <a:rPr sz="1000" b="0" i="0">
                <a:solidFill>
                  <a:srgbClr val="5B6770"/>
                </a:solidFill>
                <a:latin typeface="Arial"/>
              </a:rPr>
              <a:t>Introduction</a:t>
            </a:r>
            <a:r>
              <a:rPr sz="1000" b="0" i="0">
                <a:solidFill>
                  <a:srgbClr val="5B6770"/>
                </a:solidFill>
                <a:latin typeface="Arial"/>
              </a:rPr>
              <a:t>  ·  </a:t>
            </a:r>
            <a:r>
              <a:rPr sz="1000" b="0" i="0">
                <a:solidFill>
                  <a:srgbClr val="5B6770"/>
                </a:solidFill>
                <a:latin typeface="Arial"/>
              </a:rPr>
              <a:t>Entreprise</a:t>
            </a:r>
            <a:r>
              <a:rPr sz="1000" b="0" i="0">
                <a:solidFill>
                  <a:srgbClr val="5B6770"/>
                </a:solidFill>
                <a:latin typeface="Arial"/>
              </a:rPr>
              <a:t>  ·  </a:t>
            </a:r>
            <a:r>
              <a:rPr sz="1000" b="0" i="0">
                <a:solidFill>
                  <a:srgbClr val="5B6770"/>
                </a:solidFill>
                <a:latin typeface="Arial"/>
              </a:rPr>
              <a:t>Stage</a:t>
            </a:r>
            <a:r>
              <a:rPr sz="1000" b="0" i="0">
                <a:solidFill>
                  <a:srgbClr val="5B6770"/>
                </a:solidFill>
                <a:latin typeface="Arial"/>
              </a:rPr>
              <a:t>  ·  </a:t>
            </a:r>
            <a:r>
              <a:rPr sz="1000" b="1" i="0">
                <a:solidFill>
                  <a:srgbClr val="E65100"/>
                </a:solidFill>
                <a:latin typeface="Arial"/>
              </a:rPr>
              <a:t>Plomberie</a:t>
            </a:r>
            <a:r>
              <a:rPr sz="1000" b="0" i="0">
                <a:solidFill>
                  <a:srgbClr val="5B6770"/>
                </a:solidFill>
                <a:latin typeface="Arial"/>
              </a:rPr>
              <a:t>  ·  </a:t>
            </a:r>
            <a:r>
              <a:rPr sz="1000" b="0" i="0">
                <a:solidFill>
                  <a:srgbClr val="5B6770"/>
                </a:solidFill>
                <a:latin typeface="Arial"/>
              </a:rPr>
              <a:t>Critiques</a:t>
            </a:r>
            <a:r>
              <a:rPr sz="1000" b="0" i="0">
                <a:solidFill>
                  <a:srgbClr val="5B6770"/>
                </a:solidFill>
                <a:latin typeface="Arial"/>
              </a:rPr>
              <a:t>  ·  </a:t>
            </a:r>
            <a:r>
              <a:rPr sz="1000" b="0" i="0">
                <a:solidFill>
                  <a:srgbClr val="5B6770"/>
                </a:solidFill>
                <a:latin typeface="Arial"/>
              </a:rPr>
              <a:t>Conclusion</a:t>
            </a:r>
          </a:p>
        </p:txBody>
      </p:sp>
      <p:sp>
        <p:nvSpPr>
          <p:cNvPr id="5" name="TextBox 4"/>
          <p:cNvSpPr txBox="1"/>
          <p:nvPr/>
        </p:nvSpPr>
        <p:spPr>
          <a:xfrm>
            <a:off x="457200" y="457200"/>
            <a:ext cx="11247120" cy="731520"/>
          </a:xfrm>
          <a:prstGeom prst="rect">
            <a:avLst/>
          </a:prstGeom>
          <a:noFill/>
        </p:spPr>
        <p:txBody>
          <a:bodyPr wrap="square" anchor="ctr" lIns="45720" rIns="45720">
            <a:spAutoFit/>
          </a:bodyPr>
          <a:lstStyle/>
          <a:p>
            <a:pPr algn="l"/>
            <a:r>
              <a:rPr sz="2800" b="1" i="0">
                <a:solidFill>
                  <a:srgbClr val="1B4D1F"/>
                </a:solidFill>
                <a:latin typeface="Arial"/>
              </a:rPr>
              <a:t>Liens avec le froid et la climatisation</a:t>
            </a:r>
          </a:p>
        </p:txBody>
      </p:sp>
      <p:sp>
        <p:nvSpPr>
          <p:cNvPr id="6" name="Rectangle 5"/>
          <p:cNvSpPr/>
          <p:nvPr/>
        </p:nvSpPr>
        <p:spPr>
          <a:xfrm>
            <a:off x="502920" y="1170432"/>
            <a:ext cx="1188720" cy="640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457200" y="6382512"/>
            <a:ext cx="11292840" cy="0"/>
          </a:xfrm>
          <a:prstGeom prst="line">
            <a:avLst/>
          </a:prstGeom>
          <a:ln>
            <a:solidFill>
              <a:srgbClr val="C8D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19088"/>
            <a:ext cx="8229600" cy="320040"/>
          </a:xfrm>
          <a:prstGeom prst="rect">
            <a:avLst/>
          </a:prstGeom>
          <a:noFill/>
        </p:spPr>
        <p:txBody>
          <a:bodyPr wrap="square" anchor="t" lIns="45720" rIns="45720">
            <a:spAutoFit/>
          </a:bodyPr>
          <a:lstStyle/>
          <a:p>
            <a:pPr algn="l"/>
            <a:r>
              <a:rPr sz="1100" b="1" i="1">
                <a:solidFill>
                  <a:srgbClr val="5B6770"/>
                </a:solidFill>
                <a:latin typeface="Arial"/>
              </a:rPr>
              <a:t>Rédigé et présenté par </a:t>
            </a:r>
            <a:r>
              <a:rPr sz="1100" b="1" i="1">
                <a:solidFill>
                  <a:srgbClr val="E65100"/>
                </a:solidFill>
                <a:latin typeface="Arial"/>
              </a:rPr>
              <a:t>[À COMPLÉTER : NOM Prénom]</a:t>
            </a:r>
            <a:r>
              <a:rPr sz="1100" b="1" i="1">
                <a:solidFill>
                  <a:srgbClr val="5B6770"/>
                </a:solidFill>
                <a:latin typeface="Arial"/>
              </a:rPr>
              <a:t>  —  Froid et climatisation</a:t>
            </a:r>
          </a:p>
        </p:txBody>
      </p:sp>
      <p:pic>
        <p:nvPicPr>
          <p:cNvPr id="9" name="Picture 8" descr="cycle_frigorifique.png"/>
          <p:cNvPicPr>
            <a:picLocks noChangeAspect="1"/>
          </p:cNvPicPr>
          <p:nvPr/>
        </p:nvPicPr>
        <p:blipFill>
          <a:blip r:embed="rId3"/>
          <a:stretch>
            <a:fillRect/>
          </a:stretch>
        </p:blipFill>
        <p:spPr>
          <a:xfrm>
            <a:off x="365760" y="1547251"/>
            <a:ext cx="6583680" cy="4495017"/>
          </a:xfrm>
          <a:prstGeom prst="rect">
            <a:avLst/>
          </a:prstGeom>
        </p:spPr>
      </p:pic>
      <p:sp>
        <p:nvSpPr>
          <p:cNvPr id="10" name="Rectangle 9"/>
          <p:cNvSpPr/>
          <p:nvPr/>
        </p:nvSpPr>
        <p:spPr>
          <a:xfrm>
            <a:off x="7223760" y="1463040"/>
            <a:ext cx="4526280" cy="46634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223760" y="1463040"/>
            <a:ext cx="4526280" cy="8229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60920" y="1618488"/>
            <a:ext cx="4251960" cy="411480"/>
          </a:xfrm>
          <a:prstGeom prst="rect">
            <a:avLst/>
          </a:prstGeom>
          <a:noFill/>
        </p:spPr>
        <p:txBody>
          <a:bodyPr wrap="square" anchor="t" lIns="45720" rIns="45720">
            <a:spAutoFit/>
          </a:bodyPr>
          <a:lstStyle/>
          <a:p>
            <a:pPr algn="l"/>
            <a:r>
              <a:rPr sz="1700" b="1" i="0">
                <a:solidFill>
                  <a:srgbClr val="1B4D1F"/>
                </a:solidFill>
                <a:latin typeface="Arial"/>
              </a:rPr>
              <a:t>Interfaces plomberie / froid</a:t>
            </a:r>
          </a:p>
        </p:txBody>
      </p:sp>
      <p:sp>
        <p:nvSpPr>
          <p:cNvPr id="13" name="TextBox 12"/>
          <p:cNvSpPr txBox="1"/>
          <p:nvPr/>
        </p:nvSpPr>
        <p:spPr>
          <a:xfrm>
            <a:off x="7333488" y="2103120"/>
            <a:ext cx="4297680" cy="3931920"/>
          </a:xfrm>
          <a:prstGeom prst="rect">
            <a:avLst/>
          </a:prstGeom>
          <a:noFill/>
        </p:spPr>
        <p:txBody>
          <a:bodyPr wrap="square">
            <a:spAutoFit/>
          </a:bodyPr>
          <a:lstStyle/>
          <a:p>
            <a:pPr>
              <a:spcAft>
                <a:spcPts val="400"/>
              </a:spcAft>
            </a:pPr>
            <a:r>
              <a:rPr sz="1000" b="1" i="0">
                <a:solidFill>
                  <a:srgbClr val="2E7D32"/>
                </a:solidFill>
                <a:latin typeface="Arial"/>
              </a:rPr>
              <a:t>◆  </a:t>
            </a:r>
            <a:r>
              <a:rPr sz="1400" b="1" i="0">
                <a:solidFill>
                  <a:srgbClr val="1B4D1F"/>
                </a:solidFill>
                <a:latin typeface="Arial"/>
              </a:rPr>
              <a:t>Isolation</a:t>
            </a:r>
            <a:r>
              <a:rPr sz="1400" b="0" i="0">
                <a:solidFill>
                  <a:srgbClr val="222B33"/>
                </a:solidFill>
                <a:latin typeface="Arial"/>
              </a:rPr>
              <a:t> : surface au-dessus du point de rosée</a:t>
            </a:r>
          </a:p>
          <a:p>
            <a:pPr>
              <a:spcAft>
                <a:spcPts val="400"/>
              </a:spcAft>
            </a:pPr>
            <a:r>
              <a:rPr sz="1000" b="1" i="0">
                <a:solidFill>
                  <a:srgbClr val="2E7D32"/>
                </a:solidFill>
                <a:latin typeface="Arial"/>
              </a:rPr>
              <a:t>◆  </a:t>
            </a:r>
            <a:r>
              <a:rPr sz="1400" b="1" i="0">
                <a:solidFill>
                  <a:srgbClr val="1B4D1F"/>
                </a:solidFill>
                <a:latin typeface="Arial"/>
              </a:rPr>
              <a:t>Condensats</a:t>
            </a:r>
            <a:r>
              <a:rPr sz="1400" b="0" i="0">
                <a:solidFill>
                  <a:srgbClr val="222B33"/>
                </a:solidFill>
                <a:latin typeface="Arial"/>
              </a:rPr>
              <a:t> : siphon, pente ≥ 1 %, réseau EU</a:t>
            </a:r>
          </a:p>
          <a:p>
            <a:pPr>
              <a:spcAft>
                <a:spcPts val="400"/>
              </a:spcAft>
            </a:pPr>
            <a:r>
              <a:rPr sz="1000" b="1" i="0">
                <a:solidFill>
                  <a:srgbClr val="2E7D32"/>
                </a:solidFill>
                <a:latin typeface="Arial"/>
              </a:rPr>
              <a:t>◆  </a:t>
            </a:r>
            <a:r>
              <a:rPr sz="1400" b="1" i="0">
                <a:solidFill>
                  <a:srgbClr val="1B4D1F"/>
                </a:solidFill>
                <a:latin typeface="Arial"/>
              </a:rPr>
              <a:t>ECS</a:t>
            </a:r>
            <a:r>
              <a:rPr sz="1400" b="0" i="0">
                <a:solidFill>
                  <a:srgbClr val="222B33"/>
                </a:solidFill>
                <a:latin typeface="Arial"/>
              </a:rPr>
              <a:t> : pompe à chaleur, récupération de chaleur</a:t>
            </a:r>
          </a:p>
          <a:p>
            <a:pPr>
              <a:spcAft>
                <a:spcPts val="400"/>
              </a:spcAft>
            </a:pPr>
            <a:r>
              <a:rPr sz="1000" b="1" i="0">
                <a:solidFill>
                  <a:srgbClr val="2E7D32"/>
                </a:solidFill>
                <a:latin typeface="Arial"/>
              </a:rPr>
              <a:t>◆  </a:t>
            </a:r>
            <a:r>
              <a:rPr sz="1400" b="1" i="0">
                <a:solidFill>
                  <a:srgbClr val="1B4D1F"/>
                </a:solidFill>
                <a:latin typeface="Arial"/>
              </a:rPr>
              <a:t>Appui</a:t>
            </a:r>
            <a:r>
              <a:rPr sz="1400" b="0" i="0">
                <a:solidFill>
                  <a:srgbClr val="222B33"/>
                </a:solidFill>
                <a:latin typeface="Arial"/>
              </a:rPr>
              <a:t> à l'équipe climatisation (S15)</a:t>
            </a:r>
          </a:p>
        </p:txBody>
      </p:sp>
      <p:sp>
        <p:nvSpPr>
          <p:cNvPr id="14" name="Rectangle 13"/>
          <p:cNvSpPr/>
          <p:nvPr/>
        </p:nvSpPr>
        <p:spPr>
          <a:xfrm>
            <a:off x="10972800" y="6419088"/>
            <a:ext cx="777240"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Arial"/>
              </a:rP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DDE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
            <a:ext cx="8229600" cy="274320"/>
          </a:xfrm>
          <a:prstGeom prst="rect">
            <a:avLst/>
          </a:prstGeom>
          <a:noFill/>
        </p:spPr>
        <p:txBody>
          <a:bodyPr wrap="square" anchor="t" lIns="45720" rIns="45720">
            <a:spAutoFit/>
          </a:bodyPr>
          <a:lstStyle/>
          <a:p>
            <a:pPr algn="l"/>
            <a:r>
              <a:rPr sz="1000" b="1" i="1">
                <a:solidFill>
                  <a:srgbClr val="1B4D1F"/>
                </a:solidFill>
                <a:latin typeface="Arial"/>
              </a:rPr>
              <a:t>Plomberie sanitaire — cas de </a:t>
            </a:r>
            <a:r>
              <a:rPr sz="1000" b="1" i="1">
                <a:solidFill>
                  <a:srgbClr val="E65100"/>
                </a:solidFill>
                <a:latin typeface="Arial"/>
              </a:rPr>
              <a:t>[À COMPLÉTER : SIGLE]</a:t>
            </a:r>
          </a:p>
        </p:txBody>
      </p:sp>
      <p:sp>
        <p:nvSpPr>
          <p:cNvPr id="4" name="TextBox 3"/>
          <p:cNvSpPr txBox="1"/>
          <p:nvPr/>
        </p:nvSpPr>
        <p:spPr>
          <a:xfrm>
            <a:off x="6400800" y="18288"/>
            <a:ext cx="5486400" cy="274320"/>
          </a:xfrm>
          <a:prstGeom prst="rect">
            <a:avLst/>
          </a:prstGeom>
          <a:noFill/>
        </p:spPr>
        <p:txBody>
          <a:bodyPr wrap="none">
            <a:spAutoFit/>
          </a:bodyPr>
          <a:lstStyle/>
          <a:p>
            <a:pPr algn="r"/>
            <a:r>
              <a:rPr sz="1000" b="0" i="0">
                <a:solidFill>
                  <a:srgbClr val="5B6770"/>
                </a:solidFill>
                <a:latin typeface="Arial"/>
              </a:rPr>
              <a:t>Introduction</a:t>
            </a:r>
            <a:r>
              <a:rPr sz="1000" b="0" i="0">
                <a:solidFill>
                  <a:srgbClr val="5B6770"/>
                </a:solidFill>
                <a:latin typeface="Arial"/>
              </a:rPr>
              <a:t>  ·  </a:t>
            </a:r>
            <a:r>
              <a:rPr sz="1000" b="0" i="0">
                <a:solidFill>
                  <a:srgbClr val="5B6770"/>
                </a:solidFill>
                <a:latin typeface="Arial"/>
              </a:rPr>
              <a:t>Entreprise</a:t>
            </a:r>
            <a:r>
              <a:rPr sz="1000" b="0" i="0">
                <a:solidFill>
                  <a:srgbClr val="5B6770"/>
                </a:solidFill>
                <a:latin typeface="Arial"/>
              </a:rPr>
              <a:t>  ·  </a:t>
            </a:r>
            <a:r>
              <a:rPr sz="1000" b="0" i="0">
                <a:solidFill>
                  <a:srgbClr val="5B6770"/>
                </a:solidFill>
                <a:latin typeface="Arial"/>
              </a:rPr>
              <a:t>Stage</a:t>
            </a:r>
            <a:r>
              <a:rPr sz="1000" b="0" i="0">
                <a:solidFill>
                  <a:srgbClr val="5B6770"/>
                </a:solidFill>
                <a:latin typeface="Arial"/>
              </a:rPr>
              <a:t>  ·  </a:t>
            </a:r>
            <a:r>
              <a:rPr sz="1000" b="0" i="0">
                <a:solidFill>
                  <a:srgbClr val="5B6770"/>
                </a:solidFill>
                <a:latin typeface="Arial"/>
              </a:rPr>
              <a:t>Plomberie</a:t>
            </a:r>
            <a:r>
              <a:rPr sz="1000" b="0" i="0">
                <a:solidFill>
                  <a:srgbClr val="5B6770"/>
                </a:solidFill>
                <a:latin typeface="Arial"/>
              </a:rPr>
              <a:t>  ·  </a:t>
            </a:r>
            <a:r>
              <a:rPr sz="1000" b="1" i="0">
                <a:solidFill>
                  <a:srgbClr val="E65100"/>
                </a:solidFill>
                <a:latin typeface="Arial"/>
              </a:rPr>
              <a:t>Critiques</a:t>
            </a:r>
            <a:r>
              <a:rPr sz="1000" b="0" i="0">
                <a:solidFill>
                  <a:srgbClr val="5B6770"/>
                </a:solidFill>
                <a:latin typeface="Arial"/>
              </a:rPr>
              <a:t>  ·  </a:t>
            </a:r>
            <a:r>
              <a:rPr sz="1000" b="0" i="0">
                <a:solidFill>
                  <a:srgbClr val="5B6770"/>
                </a:solidFill>
                <a:latin typeface="Arial"/>
              </a:rPr>
              <a:t>Conclusion</a:t>
            </a:r>
          </a:p>
        </p:txBody>
      </p:sp>
      <p:sp>
        <p:nvSpPr>
          <p:cNvPr id="5" name="TextBox 4"/>
          <p:cNvSpPr txBox="1"/>
          <p:nvPr/>
        </p:nvSpPr>
        <p:spPr>
          <a:xfrm>
            <a:off x="457200" y="457200"/>
            <a:ext cx="11247120" cy="731520"/>
          </a:xfrm>
          <a:prstGeom prst="rect">
            <a:avLst/>
          </a:prstGeom>
          <a:noFill/>
        </p:spPr>
        <p:txBody>
          <a:bodyPr wrap="square" anchor="ctr" lIns="45720" rIns="45720">
            <a:spAutoFit/>
          </a:bodyPr>
          <a:lstStyle/>
          <a:p>
            <a:pPr algn="l"/>
            <a:r>
              <a:rPr sz="2800" b="1" i="0">
                <a:solidFill>
                  <a:srgbClr val="1B4D1F"/>
                </a:solidFill>
                <a:latin typeface="Arial"/>
              </a:rPr>
              <a:t>Critiques et suggestions</a:t>
            </a:r>
          </a:p>
        </p:txBody>
      </p:sp>
      <p:sp>
        <p:nvSpPr>
          <p:cNvPr id="6" name="Rectangle 5"/>
          <p:cNvSpPr/>
          <p:nvPr/>
        </p:nvSpPr>
        <p:spPr>
          <a:xfrm>
            <a:off x="502920" y="1170432"/>
            <a:ext cx="1188720" cy="640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457200" y="6382512"/>
            <a:ext cx="11292840" cy="0"/>
          </a:xfrm>
          <a:prstGeom prst="line">
            <a:avLst/>
          </a:prstGeom>
          <a:ln>
            <a:solidFill>
              <a:srgbClr val="C8D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19088"/>
            <a:ext cx="8229600" cy="320040"/>
          </a:xfrm>
          <a:prstGeom prst="rect">
            <a:avLst/>
          </a:prstGeom>
          <a:noFill/>
        </p:spPr>
        <p:txBody>
          <a:bodyPr wrap="square" anchor="t" lIns="45720" rIns="45720">
            <a:spAutoFit/>
          </a:bodyPr>
          <a:lstStyle/>
          <a:p>
            <a:pPr algn="l"/>
            <a:r>
              <a:rPr sz="1100" b="1" i="1">
                <a:solidFill>
                  <a:srgbClr val="5B6770"/>
                </a:solidFill>
                <a:latin typeface="Arial"/>
              </a:rPr>
              <a:t>Rédigé et présenté par </a:t>
            </a:r>
            <a:r>
              <a:rPr sz="1100" b="1" i="1">
                <a:solidFill>
                  <a:srgbClr val="E65100"/>
                </a:solidFill>
                <a:latin typeface="Arial"/>
              </a:rPr>
              <a:t>[À COMPLÉTER : NOM Prénom]</a:t>
            </a:r>
            <a:r>
              <a:rPr sz="1100" b="1" i="1">
                <a:solidFill>
                  <a:srgbClr val="5B6770"/>
                </a:solidFill>
                <a:latin typeface="Arial"/>
              </a:rPr>
              <a:t>  —  Froid et climatisation</a:t>
            </a:r>
          </a:p>
        </p:txBody>
      </p:sp>
      <p:graphicFrame>
        <p:nvGraphicFramePr>
          <p:cNvPr id="9" name="Table 8"/>
          <p:cNvGraphicFramePr>
            <a:graphicFrameLocks noGrp="1"/>
          </p:cNvGraphicFramePr>
          <p:nvPr/>
        </p:nvGraphicFramePr>
        <p:xfrm>
          <a:off x="457200" y="1463040"/>
          <a:ext cx="11292840" cy="3950208"/>
        </p:xfrm>
        <a:graphic>
          <a:graphicData uri="http://schemas.openxmlformats.org/drawingml/2006/table">
            <a:tbl>
              <a:tblPr firstRow="1" bandRow="1">
                <a:tableStyleId>{5C22544A-7EE6-4342-B048-85BDC9FD1C3A}</a:tableStyleId>
              </a:tblPr>
              <a:tblGrid>
                <a:gridCol w="5120640"/>
                <a:gridCol w="6172200"/>
              </a:tblGrid>
              <a:tr h="658368">
                <a:tc>
                  <a:txBody>
                    <a:bodyPr wrap="square"/>
                    <a:lstStyle/>
                    <a:p>
                      <a:pPr algn="l"/>
                      <a:r>
                        <a:rPr sz="1400" b="1" i="0">
                          <a:solidFill>
                            <a:srgbClr val="FFFFFF"/>
                          </a:solidFill>
                          <a:latin typeface="Arial"/>
                        </a:rPr>
                        <a:t>Constat</a:t>
                      </a:r>
                    </a:p>
                  </a:txBody>
                  <a:tcPr anchor="ctr" marL="73152" marR="73152">
                    <a:solidFill>
                      <a:srgbClr val="2E7D32"/>
                    </a:solidFill>
                  </a:tcPr>
                </a:tc>
                <a:tc>
                  <a:txBody>
                    <a:bodyPr wrap="square"/>
                    <a:lstStyle/>
                    <a:p>
                      <a:pPr algn="l"/>
                      <a:r>
                        <a:rPr sz="1400" b="1" i="0">
                          <a:solidFill>
                            <a:srgbClr val="FFFFFF"/>
                          </a:solidFill>
                          <a:latin typeface="Arial"/>
                        </a:rPr>
                        <a:t>Suggestion</a:t>
                      </a:r>
                    </a:p>
                  </a:txBody>
                  <a:tcPr anchor="ctr" marL="73152" marR="73152">
                    <a:solidFill>
                      <a:srgbClr val="2E7D32"/>
                    </a:solidFill>
                  </a:tcPr>
                </a:tc>
              </a:tr>
              <a:tr h="658368">
                <a:tc>
                  <a:txBody>
                    <a:bodyPr wrap="square"/>
                    <a:lstStyle/>
                    <a:p>
                      <a:pPr algn="l"/>
                      <a:r>
                        <a:rPr sz="1400" b="1" i="0">
                          <a:solidFill>
                            <a:srgbClr val="222B33"/>
                          </a:solidFill>
                          <a:latin typeface="Arial"/>
                        </a:rPr>
                        <a:t>Ruptures de raccords et consommables</a:t>
                      </a:r>
                    </a:p>
                  </a:txBody>
                  <a:tcPr anchor="ctr" marL="73152" marR="73152">
                    <a:solidFill>
                      <a:srgbClr val="EEF6EC"/>
                    </a:solidFill>
                  </a:tcPr>
                </a:tc>
                <a:tc>
                  <a:txBody>
                    <a:bodyPr wrap="square"/>
                    <a:lstStyle/>
                    <a:p>
                      <a:pPr algn="l"/>
                      <a:r>
                        <a:rPr sz="1400" b="0" i="0">
                          <a:solidFill>
                            <a:srgbClr val="222B33"/>
                          </a:solidFill>
                          <a:latin typeface="Arial"/>
                        </a:rPr>
                        <a:t>Liste de matériel par zone, stock tampon</a:t>
                      </a:r>
                    </a:p>
                  </a:txBody>
                  <a:tcPr anchor="ctr" marL="73152" marR="73152">
                    <a:solidFill>
                      <a:srgbClr val="EEF6EC"/>
                    </a:solidFill>
                  </a:tcPr>
                </a:tc>
              </a:tr>
              <a:tr h="658368">
                <a:tc>
                  <a:txBody>
                    <a:bodyPr wrap="square"/>
                    <a:lstStyle/>
                    <a:p>
                      <a:pPr algn="l"/>
                      <a:r>
                        <a:rPr sz="1400" b="1" i="0">
                          <a:solidFill>
                            <a:srgbClr val="222B33"/>
                          </a:solidFill>
                          <a:latin typeface="Arial"/>
                        </a:rPr>
                        <a:t>Disparitions de matériel</a:t>
                      </a:r>
                    </a:p>
                  </a:txBody>
                  <a:tcPr anchor="ctr" marL="73152" marR="73152">
                    <a:solidFill>
                      <a:srgbClr val="FFFFFF"/>
                    </a:solidFill>
                  </a:tcPr>
                </a:tc>
                <a:tc>
                  <a:txBody>
                    <a:bodyPr wrap="square"/>
                    <a:lstStyle/>
                    <a:p>
                      <a:pPr algn="l"/>
                      <a:r>
                        <a:rPr sz="1400" b="0" i="0">
                          <a:solidFill>
                            <a:srgbClr val="222B33"/>
                          </a:solidFill>
                          <a:latin typeface="Arial"/>
                        </a:rPr>
                        <a:t>Local fermé par niveau, registre des sorties</a:t>
                      </a:r>
                    </a:p>
                  </a:txBody>
                  <a:tcPr anchor="ctr" marL="73152" marR="73152">
                    <a:solidFill>
                      <a:srgbClr val="FFFFFF"/>
                    </a:solidFill>
                  </a:tcPr>
                </a:tc>
              </a:tr>
              <a:tr h="658368">
                <a:tc>
                  <a:txBody>
                    <a:bodyPr wrap="square"/>
                    <a:lstStyle/>
                    <a:p>
                      <a:pPr algn="l"/>
                      <a:r>
                        <a:rPr sz="1400" b="1" i="0">
                          <a:solidFill>
                            <a:srgbClr val="222B33"/>
                          </a:solidFill>
                          <a:latin typeface="Arial"/>
                        </a:rPr>
                        <a:t>EPI pas toujours portés, travaux en hauteur</a:t>
                      </a:r>
                    </a:p>
                  </a:txBody>
                  <a:tcPr anchor="ctr" marL="73152" marR="73152">
                    <a:solidFill>
                      <a:srgbClr val="EEF6EC"/>
                    </a:solidFill>
                  </a:tcPr>
                </a:tc>
                <a:tc>
                  <a:txBody>
                    <a:bodyPr wrap="square"/>
                    <a:lstStyle/>
                    <a:p>
                      <a:pPr algn="l"/>
                      <a:r>
                        <a:rPr sz="1400" b="0" i="0">
                          <a:solidFill>
                            <a:srgbClr val="222B33"/>
                          </a:solidFill>
                          <a:latin typeface="Arial"/>
                        </a:rPr>
                        <a:t>Référent HSE, quart d'heure sécurité, garde-corps</a:t>
                      </a:r>
                    </a:p>
                  </a:txBody>
                  <a:tcPr anchor="ctr" marL="73152" marR="73152">
                    <a:solidFill>
                      <a:srgbClr val="EEF6EC"/>
                    </a:solidFill>
                  </a:tcPr>
                </a:tc>
              </a:tr>
              <a:tr h="658368">
                <a:tc>
                  <a:txBody>
                    <a:bodyPr wrap="square"/>
                    <a:lstStyle/>
                    <a:p>
                      <a:pPr algn="l"/>
                      <a:r>
                        <a:rPr sz="1400" b="1" i="0">
                          <a:solidFill>
                            <a:srgbClr val="222B33"/>
                          </a:solidFill>
                          <a:latin typeface="Arial"/>
                        </a:rPr>
                        <a:t>Éclairage insuffisant</a:t>
                      </a:r>
                    </a:p>
                  </a:txBody>
                  <a:tcPr anchor="ctr" marL="73152" marR="73152">
                    <a:solidFill>
                      <a:srgbClr val="FFFFFF"/>
                    </a:solidFill>
                  </a:tcPr>
                </a:tc>
                <a:tc>
                  <a:txBody>
                    <a:bodyPr wrap="square"/>
                    <a:lstStyle/>
                    <a:p>
                      <a:pPr algn="l"/>
                      <a:r>
                        <a:rPr sz="1400" b="0" i="0">
                          <a:solidFill>
                            <a:srgbClr val="222B33"/>
                          </a:solidFill>
                          <a:latin typeface="Arial"/>
                        </a:rPr>
                        <a:t>Projecteurs et éclairage provisoire</a:t>
                      </a:r>
                    </a:p>
                  </a:txBody>
                  <a:tcPr anchor="ctr" marL="73152" marR="73152">
                    <a:solidFill>
                      <a:srgbClr val="FFFFFF"/>
                    </a:solidFill>
                  </a:tcPr>
                </a:tc>
              </a:tr>
              <a:tr h="658368">
                <a:tc>
                  <a:txBody>
                    <a:bodyPr wrap="square"/>
                    <a:lstStyle/>
                    <a:p>
                      <a:pPr algn="l"/>
                      <a:r>
                        <a:rPr sz="1400" b="1" i="0">
                          <a:solidFill>
                            <a:srgbClr val="222B33"/>
                          </a:solidFill>
                          <a:latin typeface="Arial"/>
                        </a:rPr>
                        <a:t>Autocontrôles irréguliers</a:t>
                      </a:r>
                    </a:p>
                  </a:txBody>
                  <a:tcPr anchor="ctr" marL="73152" marR="73152">
                    <a:solidFill>
                      <a:srgbClr val="EEF6EC"/>
                    </a:solidFill>
                  </a:tcPr>
                </a:tc>
                <a:tc>
                  <a:txBody>
                    <a:bodyPr wrap="square"/>
                    <a:lstStyle/>
                    <a:p>
                      <a:pPr algn="l"/>
                      <a:r>
                        <a:rPr sz="1400" b="0" i="0">
                          <a:solidFill>
                            <a:srgbClr val="222B33"/>
                          </a:solidFill>
                          <a:latin typeface="Arial"/>
                        </a:rPr>
                        <a:t>Fiches signées, photos des essais</a:t>
                      </a:r>
                    </a:p>
                  </a:txBody>
                  <a:tcPr anchor="ctr" marL="73152" marR="73152">
                    <a:solidFill>
                      <a:srgbClr val="EEF6EC"/>
                    </a:solidFill>
                  </a:tcPr>
                </a:tc>
              </a:tr>
            </a:tbl>
          </a:graphicData>
        </a:graphic>
      </p:graphicFrame>
      <p:sp>
        <p:nvSpPr>
          <p:cNvPr id="10" name="TextBox 9"/>
          <p:cNvSpPr txBox="1"/>
          <p:nvPr/>
        </p:nvSpPr>
        <p:spPr>
          <a:xfrm>
            <a:off x="457200" y="5623560"/>
            <a:ext cx="11247120" cy="548640"/>
          </a:xfrm>
          <a:prstGeom prst="rect">
            <a:avLst/>
          </a:prstGeom>
          <a:noFill/>
        </p:spPr>
        <p:txBody>
          <a:bodyPr wrap="square" anchor="t" lIns="45720" rIns="45720">
            <a:spAutoFit/>
          </a:bodyPr>
          <a:lstStyle/>
          <a:p>
            <a:pPr algn="l"/>
            <a:r>
              <a:rPr sz="1400" b="1" i="0">
                <a:solidFill>
                  <a:srgbClr val="2E7D32"/>
                </a:solidFill>
                <a:latin typeface="Arial"/>
              </a:rPr>
              <a:t>Points forts : encadrement technique, organisation par zones, essais systématiques, coordination entre lots</a:t>
            </a:r>
          </a:p>
        </p:txBody>
      </p:sp>
      <p:sp>
        <p:nvSpPr>
          <p:cNvPr id="11" name="Rectangle 10"/>
          <p:cNvSpPr/>
          <p:nvPr/>
        </p:nvSpPr>
        <p:spPr>
          <a:xfrm>
            <a:off x="10972800" y="6419088"/>
            <a:ext cx="777240"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Arial"/>
              </a:rP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92608"/>
          </a:xfrm>
          <a:prstGeom prst="rect">
            <a:avLst/>
          </a:prstGeom>
          <a:solidFill>
            <a:srgbClr val="DDE1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8288"/>
            <a:ext cx="8229600" cy="274320"/>
          </a:xfrm>
          <a:prstGeom prst="rect">
            <a:avLst/>
          </a:prstGeom>
          <a:noFill/>
        </p:spPr>
        <p:txBody>
          <a:bodyPr wrap="square" anchor="t" lIns="45720" rIns="45720">
            <a:spAutoFit/>
          </a:bodyPr>
          <a:lstStyle/>
          <a:p>
            <a:pPr algn="l"/>
            <a:r>
              <a:rPr sz="1000" b="1" i="1">
                <a:solidFill>
                  <a:srgbClr val="1B4D1F"/>
                </a:solidFill>
                <a:latin typeface="Arial"/>
              </a:rPr>
              <a:t>Plomberie sanitaire — cas de </a:t>
            </a:r>
            <a:r>
              <a:rPr sz="1000" b="1" i="1">
                <a:solidFill>
                  <a:srgbClr val="E65100"/>
                </a:solidFill>
                <a:latin typeface="Arial"/>
              </a:rPr>
              <a:t>[À COMPLÉTER : SIGLE]</a:t>
            </a:r>
          </a:p>
        </p:txBody>
      </p:sp>
      <p:sp>
        <p:nvSpPr>
          <p:cNvPr id="4" name="TextBox 3"/>
          <p:cNvSpPr txBox="1"/>
          <p:nvPr/>
        </p:nvSpPr>
        <p:spPr>
          <a:xfrm>
            <a:off x="6400800" y="18288"/>
            <a:ext cx="5486400" cy="274320"/>
          </a:xfrm>
          <a:prstGeom prst="rect">
            <a:avLst/>
          </a:prstGeom>
          <a:noFill/>
        </p:spPr>
        <p:txBody>
          <a:bodyPr wrap="none">
            <a:spAutoFit/>
          </a:bodyPr>
          <a:lstStyle/>
          <a:p>
            <a:pPr algn="r"/>
            <a:r>
              <a:rPr sz="1000" b="0" i="0">
                <a:solidFill>
                  <a:srgbClr val="5B6770"/>
                </a:solidFill>
                <a:latin typeface="Arial"/>
              </a:rPr>
              <a:t>Introduction</a:t>
            </a:r>
            <a:r>
              <a:rPr sz="1000" b="0" i="0">
                <a:solidFill>
                  <a:srgbClr val="5B6770"/>
                </a:solidFill>
                <a:latin typeface="Arial"/>
              </a:rPr>
              <a:t>  ·  </a:t>
            </a:r>
            <a:r>
              <a:rPr sz="1000" b="0" i="0">
                <a:solidFill>
                  <a:srgbClr val="5B6770"/>
                </a:solidFill>
                <a:latin typeface="Arial"/>
              </a:rPr>
              <a:t>Entreprise</a:t>
            </a:r>
            <a:r>
              <a:rPr sz="1000" b="0" i="0">
                <a:solidFill>
                  <a:srgbClr val="5B6770"/>
                </a:solidFill>
                <a:latin typeface="Arial"/>
              </a:rPr>
              <a:t>  ·  </a:t>
            </a:r>
            <a:r>
              <a:rPr sz="1000" b="0" i="0">
                <a:solidFill>
                  <a:srgbClr val="5B6770"/>
                </a:solidFill>
                <a:latin typeface="Arial"/>
              </a:rPr>
              <a:t>Stage</a:t>
            </a:r>
            <a:r>
              <a:rPr sz="1000" b="0" i="0">
                <a:solidFill>
                  <a:srgbClr val="5B6770"/>
                </a:solidFill>
                <a:latin typeface="Arial"/>
              </a:rPr>
              <a:t>  ·  </a:t>
            </a:r>
            <a:r>
              <a:rPr sz="1000" b="0" i="0">
                <a:solidFill>
                  <a:srgbClr val="5B6770"/>
                </a:solidFill>
                <a:latin typeface="Arial"/>
              </a:rPr>
              <a:t>Plomberie</a:t>
            </a:r>
            <a:r>
              <a:rPr sz="1000" b="0" i="0">
                <a:solidFill>
                  <a:srgbClr val="5B6770"/>
                </a:solidFill>
                <a:latin typeface="Arial"/>
              </a:rPr>
              <a:t>  ·  </a:t>
            </a:r>
            <a:r>
              <a:rPr sz="1000" b="0" i="0">
                <a:solidFill>
                  <a:srgbClr val="5B6770"/>
                </a:solidFill>
                <a:latin typeface="Arial"/>
              </a:rPr>
              <a:t>Critiques</a:t>
            </a:r>
            <a:r>
              <a:rPr sz="1000" b="0" i="0">
                <a:solidFill>
                  <a:srgbClr val="5B6770"/>
                </a:solidFill>
                <a:latin typeface="Arial"/>
              </a:rPr>
              <a:t>  ·  </a:t>
            </a:r>
            <a:r>
              <a:rPr sz="1000" b="1" i="0">
                <a:solidFill>
                  <a:srgbClr val="E65100"/>
                </a:solidFill>
                <a:latin typeface="Arial"/>
              </a:rPr>
              <a:t>Conclusion</a:t>
            </a:r>
          </a:p>
        </p:txBody>
      </p:sp>
      <p:sp>
        <p:nvSpPr>
          <p:cNvPr id="5" name="TextBox 4"/>
          <p:cNvSpPr txBox="1"/>
          <p:nvPr/>
        </p:nvSpPr>
        <p:spPr>
          <a:xfrm>
            <a:off x="457200" y="457200"/>
            <a:ext cx="11247120" cy="731520"/>
          </a:xfrm>
          <a:prstGeom prst="rect">
            <a:avLst/>
          </a:prstGeom>
          <a:noFill/>
        </p:spPr>
        <p:txBody>
          <a:bodyPr wrap="square" anchor="ctr" lIns="45720" rIns="45720">
            <a:spAutoFit/>
          </a:bodyPr>
          <a:lstStyle/>
          <a:p>
            <a:pPr algn="l"/>
            <a:r>
              <a:rPr sz="2800" b="1" i="0">
                <a:solidFill>
                  <a:srgbClr val="1B4D1F"/>
                </a:solidFill>
                <a:latin typeface="Arial"/>
              </a:rPr>
              <a:t>Conclusion et perspectives</a:t>
            </a:r>
          </a:p>
        </p:txBody>
      </p:sp>
      <p:sp>
        <p:nvSpPr>
          <p:cNvPr id="6" name="Rectangle 5"/>
          <p:cNvSpPr/>
          <p:nvPr/>
        </p:nvSpPr>
        <p:spPr>
          <a:xfrm>
            <a:off x="502920" y="1170432"/>
            <a:ext cx="1188720" cy="640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457200" y="6382512"/>
            <a:ext cx="11292840" cy="0"/>
          </a:xfrm>
          <a:prstGeom prst="line">
            <a:avLst/>
          </a:prstGeom>
          <a:ln>
            <a:solidFill>
              <a:srgbClr val="C8D8C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457200" y="6419088"/>
            <a:ext cx="8229600" cy="320040"/>
          </a:xfrm>
          <a:prstGeom prst="rect">
            <a:avLst/>
          </a:prstGeom>
          <a:noFill/>
        </p:spPr>
        <p:txBody>
          <a:bodyPr wrap="square" anchor="t" lIns="45720" rIns="45720">
            <a:spAutoFit/>
          </a:bodyPr>
          <a:lstStyle/>
          <a:p>
            <a:pPr algn="l"/>
            <a:r>
              <a:rPr sz="1100" b="1" i="1">
                <a:solidFill>
                  <a:srgbClr val="5B6770"/>
                </a:solidFill>
                <a:latin typeface="Arial"/>
              </a:rPr>
              <a:t>Rédigé et présenté par </a:t>
            </a:r>
            <a:r>
              <a:rPr sz="1100" b="1" i="1">
                <a:solidFill>
                  <a:srgbClr val="E65100"/>
                </a:solidFill>
                <a:latin typeface="Arial"/>
              </a:rPr>
              <a:t>[À COMPLÉTER : NOM Prénom]</a:t>
            </a:r>
            <a:r>
              <a:rPr sz="1100" b="1" i="1">
                <a:solidFill>
                  <a:srgbClr val="5B6770"/>
                </a:solidFill>
                <a:latin typeface="Arial"/>
              </a:rPr>
              <a:t>  —  Froid et climatisation</a:t>
            </a:r>
          </a:p>
        </p:txBody>
      </p:sp>
      <p:sp>
        <p:nvSpPr>
          <p:cNvPr id="9" name="Rectangle 8"/>
          <p:cNvSpPr/>
          <p:nvPr/>
        </p:nvSpPr>
        <p:spPr>
          <a:xfrm>
            <a:off x="457200" y="1463040"/>
            <a:ext cx="3657600" cy="46634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463040"/>
            <a:ext cx="3657600" cy="8229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618488"/>
            <a:ext cx="3383280" cy="411480"/>
          </a:xfrm>
          <a:prstGeom prst="rect">
            <a:avLst/>
          </a:prstGeom>
          <a:noFill/>
        </p:spPr>
        <p:txBody>
          <a:bodyPr wrap="square" anchor="t" lIns="45720" rIns="45720">
            <a:spAutoFit/>
          </a:bodyPr>
          <a:lstStyle/>
          <a:p>
            <a:pPr algn="l"/>
            <a:r>
              <a:rPr sz="1700" b="1" i="0">
                <a:solidFill>
                  <a:srgbClr val="1B4D1F"/>
                </a:solidFill>
                <a:latin typeface="Arial"/>
              </a:rPr>
              <a:t>Bilan</a:t>
            </a:r>
          </a:p>
        </p:txBody>
      </p:sp>
      <p:sp>
        <p:nvSpPr>
          <p:cNvPr id="12" name="TextBox 11"/>
          <p:cNvSpPr txBox="1"/>
          <p:nvPr/>
        </p:nvSpPr>
        <p:spPr>
          <a:xfrm>
            <a:off x="566928" y="2103120"/>
            <a:ext cx="3429000" cy="3931920"/>
          </a:xfrm>
          <a:prstGeom prst="rect">
            <a:avLst/>
          </a:prstGeom>
          <a:noFill/>
        </p:spPr>
        <p:txBody>
          <a:bodyPr wrap="square">
            <a:spAutoFit/>
          </a:bodyPr>
          <a:lstStyle/>
          <a:p>
            <a:pPr>
              <a:spcAft>
                <a:spcPts val="400"/>
              </a:spcAft>
            </a:pPr>
            <a:r>
              <a:rPr sz="1100" b="1" i="0">
                <a:solidFill>
                  <a:srgbClr val="2E7D32"/>
                </a:solidFill>
                <a:latin typeface="Arial"/>
              </a:rPr>
              <a:t>◆  </a:t>
            </a:r>
            <a:r>
              <a:rPr sz="1500" b="0" i="0">
                <a:solidFill>
                  <a:srgbClr val="222B33"/>
                </a:solidFill>
                <a:latin typeface="Arial"/>
              </a:rPr>
              <a:t>Gestes professionnels acquis</a:t>
            </a:r>
          </a:p>
          <a:p>
            <a:pPr>
              <a:spcAft>
                <a:spcPts val="400"/>
              </a:spcAft>
            </a:pPr>
            <a:r>
              <a:rPr sz="1100" b="1" i="0">
                <a:solidFill>
                  <a:srgbClr val="2E7D32"/>
                </a:solidFill>
                <a:latin typeface="Arial"/>
              </a:rPr>
              <a:t>◆  </a:t>
            </a:r>
            <a:r>
              <a:rPr sz="1500" b="0" i="0">
                <a:solidFill>
                  <a:srgbClr val="222B33"/>
                </a:solidFill>
                <a:latin typeface="Arial"/>
              </a:rPr>
              <a:t>Théorie (DTU 60.11) appliquée au chantier</a:t>
            </a:r>
          </a:p>
          <a:p>
            <a:pPr>
              <a:spcAft>
                <a:spcPts val="400"/>
              </a:spcAft>
            </a:pPr>
            <a:r>
              <a:rPr sz="1100" b="1" i="0">
                <a:solidFill>
                  <a:srgbClr val="2E7D32"/>
                </a:solidFill>
                <a:latin typeface="Arial"/>
              </a:rPr>
              <a:t>◆  </a:t>
            </a:r>
            <a:r>
              <a:rPr sz="1500" b="0" i="0">
                <a:solidFill>
                  <a:srgbClr val="222B33"/>
                </a:solidFill>
                <a:latin typeface="Arial"/>
              </a:rPr>
              <a:t>Rigueur et travail d'équipe</a:t>
            </a:r>
          </a:p>
        </p:txBody>
      </p:sp>
      <p:sp>
        <p:nvSpPr>
          <p:cNvPr id="13" name="Rectangle 12"/>
          <p:cNvSpPr/>
          <p:nvPr/>
        </p:nvSpPr>
        <p:spPr>
          <a:xfrm>
            <a:off x="4270248" y="1463040"/>
            <a:ext cx="3657600" cy="46634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70248" y="1463040"/>
            <a:ext cx="3657600" cy="82296"/>
          </a:xfrm>
          <a:prstGeom prst="rect">
            <a:avLst/>
          </a:prstGeom>
          <a:solidFill>
            <a:srgbClr val="E65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07408" y="1618488"/>
            <a:ext cx="3383280" cy="411480"/>
          </a:xfrm>
          <a:prstGeom prst="rect">
            <a:avLst/>
          </a:prstGeom>
          <a:noFill/>
        </p:spPr>
        <p:txBody>
          <a:bodyPr wrap="square" anchor="t" lIns="45720" rIns="45720">
            <a:spAutoFit/>
          </a:bodyPr>
          <a:lstStyle/>
          <a:p>
            <a:pPr algn="l"/>
            <a:r>
              <a:rPr sz="1700" b="1" i="0">
                <a:solidFill>
                  <a:srgbClr val="E65100"/>
                </a:solidFill>
                <a:latin typeface="Arial"/>
              </a:rPr>
              <a:t>Limites et prolongements</a:t>
            </a:r>
          </a:p>
        </p:txBody>
      </p:sp>
      <p:sp>
        <p:nvSpPr>
          <p:cNvPr id="16" name="TextBox 15"/>
          <p:cNvSpPr txBox="1"/>
          <p:nvPr/>
        </p:nvSpPr>
        <p:spPr>
          <a:xfrm>
            <a:off x="4379976" y="2103120"/>
            <a:ext cx="3429000" cy="3931920"/>
          </a:xfrm>
          <a:prstGeom prst="rect">
            <a:avLst/>
          </a:prstGeom>
          <a:noFill/>
        </p:spPr>
        <p:txBody>
          <a:bodyPr wrap="square">
            <a:spAutoFit/>
          </a:bodyPr>
          <a:lstStyle/>
          <a:p>
            <a:pPr>
              <a:spcAft>
                <a:spcPts val="400"/>
              </a:spcAft>
            </a:pPr>
            <a:r>
              <a:rPr sz="1100" b="1" i="0">
                <a:solidFill>
                  <a:srgbClr val="2E7D32"/>
                </a:solidFill>
                <a:latin typeface="Arial"/>
              </a:rPr>
              <a:t>◆  </a:t>
            </a:r>
            <a:r>
              <a:rPr sz="1500" b="0" i="0">
                <a:solidFill>
                  <a:srgbClr val="222B33"/>
                </a:solidFill>
                <a:latin typeface="Arial"/>
              </a:rPr>
              <a:t>Évacuations non traitées</a:t>
            </a:r>
          </a:p>
          <a:p>
            <a:pPr>
              <a:spcAft>
                <a:spcPts val="400"/>
              </a:spcAft>
            </a:pPr>
            <a:r>
              <a:rPr sz="1100" b="1" i="0">
                <a:solidFill>
                  <a:srgbClr val="2E7D32"/>
                </a:solidFill>
                <a:latin typeface="Arial"/>
              </a:rPr>
              <a:t>◆  </a:t>
            </a:r>
            <a:r>
              <a:rPr sz="1500" b="0" i="0">
                <a:solidFill>
                  <a:srgbClr val="222B33"/>
                </a:solidFill>
                <a:latin typeface="Arial"/>
              </a:rPr>
              <a:t>Hypothèses de calcul simplifiées</a:t>
            </a:r>
          </a:p>
          <a:p>
            <a:pPr>
              <a:spcAft>
                <a:spcPts val="400"/>
              </a:spcAft>
            </a:pPr>
            <a:r>
              <a:rPr sz="1100" b="1" i="0">
                <a:solidFill>
                  <a:srgbClr val="2E7D32"/>
                </a:solidFill>
                <a:latin typeface="Arial"/>
              </a:rPr>
              <a:t>◆  </a:t>
            </a:r>
            <a:r>
              <a:rPr sz="1500" b="0" i="0">
                <a:solidFill>
                  <a:srgbClr val="222B33"/>
                </a:solidFill>
                <a:latin typeface="Arial"/>
              </a:rPr>
              <a:t>Étude énergétique de l'ECS</a:t>
            </a:r>
          </a:p>
        </p:txBody>
      </p:sp>
      <p:sp>
        <p:nvSpPr>
          <p:cNvPr id="17" name="Rectangle 16"/>
          <p:cNvSpPr/>
          <p:nvPr/>
        </p:nvSpPr>
        <p:spPr>
          <a:xfrm>
            <a:off x="8074152" y="1463040"/>
            <a:ext cx="3657600" cy="4663440"/>
          </a:xfrm>
          <a:prstGeom prst="rect">
            <a:avLst/>
          </a:prstGeom>
          <a:solidFill>
            <a:srgbClr val="EE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74152" y="1463040"/>
            <a:ext cx="3657600" cy="82296"/>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11312" y="1618488"/>
            <a:ext cx="3383280" cy="411480"/>
          </a:xfrm>
          <a:prstGeom prst="rect">
            <a:avLst/>
          </a:prstGeom>
          <a:noFill/>
        </p:spPr>
        <p:txBody>
          <a:bodyPr wrap="square" anchor="t" lIns="45720" rIns="45720">
            <a:spAutoFit/>
          </a:bodyPr>
          <a:lstStyle/>
          <a:p>
            <a:pPr algn="l"/>
            <a:r>
              <a:rPr sz="1700" b="1" i="0">
                <a:solidFill>
                  <a:srgbClr val="1B4D1F"/>
                </a:solidFill>
                <a:latin typeface="Arial"/>
              </a:rPr>
              <a:t>Projet professionnel</a:t>
            </a:r>
          </a:p>
        </p:txBody>
      </p:sp>
      <p:sp>
        <p:nvSpPr>
          <p:cNvPr id="20" name="TextBox 19"/>
          <p:cNvSpPr txBox="1"/>
          <p:nvPr/>
        </p:nvSpPr>
        <p:spPr>
          <a:xfrm>
            <a:off x="8183879" y="2103120"/>
            <a:ext cx="3429000" cy="3931920"/>
          </a:xfrm>
          <a:prstGeom prst="rect">
            <a:avLst/>
          </a:prstGeom>
          <a:noFill/>
        </p:spPr>
        <p:txBody>
          <a:bodyPr wrap="square">
            <a:spAutoFit/>
          </a:bodyPr>
          <a:lstStyle/>
          <a:p>
            <a:pPr>
              <a:spcAft>
                <a:spcPts val="400"/>
              </a:spcAft>
            </a:pPr>
            <a:r>
              <a:rPr sz="1100" b="1" i="0">
                <a:solidFill>
                  <a:srgbClr val="2E7D32"/>
                </a:solidFill>
                <a:latin typeface="Arial"/>
              </a:rPr>
              <a:t>◆  </a:t>
            </a:r>
            <a:r>
              <a:rPr sz="1500" b="0" i="0">
                <a:solidFill>
                  <a:srgbClr val="222B33"/>
                </a:solidFill>
                <a:latin typeface="Arial"/>
              </a:rPr>
              <a:t>Technicien froid et climatisation</a:t>
            </a:r>
          </a:p>
          <a:p>
            <a:pPr>
              <a:spcAft>
                <a:spcPts val="400"/>
              </a:spcAft>
            </a:pPr>
            <a:r>
              <a:rPr sz="1100" b="1" i="0">
                <a:solidFill>
                  <a:srgbClr val="2E7D32"/>
                </a:solidFill>
                <a:latin typeface="Arial"/>
              </a:rPr>
              <a:t>◆  </a:t>
            </a:r>
            <a:r>
              <a:rPr sz="1500" b="0" i="0">
                <a:solidFill>
                  <a:srgbClr val="222B33"/>
                </a:solidFill>
                <a:latin typeface="Arial"/>
              </a:rPr>
              <a:t>Compétences fluides du bâtiment</a:t>
            </a:r>
          </a:p>
          <a:p>
            <a:pPr>
              <a:spcAft>
                <a:spcPts val="400"/>
              </a:spcAft>
            </a:pPr>
            <a:r>
              <a:rPr sz="1100" b="1" i="0">
                <a:solidFill>
                  <a:srgbClr val="2E7D32"/>
                </a:solidFill>
                <a:latin typeface="Arial"/>
              </a:rPr>
              <a:t>◆  </a:t>
            </a:r>
            <a:r>
              <a:rPr sz="1500" b="0" i="0">
                <a:solidFill>
                  <a:srgbClr val="222B33"/>
                </a:solidFill>
                <a:latin typeface="Arial"/>
              </a:rPr>
              <a:t>Insertion en entreprise multi-lots</a:t>
            </a:r>
          </a:p>
        </p:txBody>
      </p:sp>
      <p:sp>
        <p:nvSpPr>
          <p:cNvPr id="21" name="Rectangle 20"/>
          <p:cNvSpPr/>
          <p:nvPr/>
        </p:nvSpPr>
        <p:spPr>
          <a:xfrm>
            <a:off x="10972800" y="6419088"/>
            <a:ext cx="777240" cy="2926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i="0">
                <a:solidFill>
                  <a:srgbClr val="FFFFFF"/>
                </a:solidFill>
                <a:latin typeface="Arial"/>
              </a:rP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184648" y="3703320"/>
            <a:ext cx="18288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103120"/>
            <a:ext cx="11064240" cy="1097280"/>
          </a:xfrm>
          <a:prstGeom prst="rect">
            <a:avLst/>
          </a:prstGeom>
          <a:noFill/>
        </p:spPr>
        <p:txBody>
          <a:bodyPr wrap="square" anchor="ctr" lIns="45720" rIns="45720">
            <a:spAutoFit/>
          </a:bodyPr>
          <a:lstStyle/>
          <a:p>
            <a:pPr algn="ctr"/>
            <a:r>
              <a:rPr sz="4400" b="1" i="0">
                <a:solidFill>
                  <a:srgbClr val="FFFFFF"/>
                </a:solidFill>
                <a:latin typeface="Arial"/>
              </a:rPr>
              <a:t>Merci pour votre attention</a:t>
            </a:r>
          </a:p>
        </p:txBody>
      </p:sp>
      <p:sp>
        <p:nvSpPr>
          <p:cNvPr id="5" name="TextBox 4"/>
          <p:cNvSpPr txBox="1"/>
          <p:nvPr/>
        </p:nvSpPr>
        <p:spPr>
          <a:xfrm>
            <a:off x="548640" y="3063240"/>
            <a:ext cx="11064240" cy="548640"/>
          </a:xfrm>
          <a:prstGeom prst="rect">
            <a:avLst/>
          </a:prstGeom>
          <a:noFill/>
        </p:spPr>
        <p:txBody>
          <a:bodyPr wrap="square" anchor="t" lIns="45720" rIns="45720">
            <a:spAutoFit/>
          </a:bodyPr>
          <a:lstStyle/>
          <a:p>
            <a:pPr algn="ctr"/>
            <a:r>
              <a:rPr sz="2400" b="0" i="0">
                <a:solidFill>
                  <a:srgbClr val="EEF6EC"/>
                </a:solidFill>
                <a:latin typeface="Arial"/>
              </a:rPr>
              <a:t>Questions et échanges</a:t>
            </a:r>
          </a:p>
        </p:txBody>
      </p:sp>
      <p:sp>
        <p:nvSpPr>
          <p:cNvPr id="6" name="Rounded Rectangle 5"/>
          <p:cNvSpPr/>
          <p:nvPr/>
        </p:nvSpPr>
        <p:spPr>
          <a:xfrm>
            <a:off x="2926080" y="3977639"/>
            <a:ext cx="6309360" cy="54864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926080" y="4005072"/>
            <a:ext cx="6309360" cy="502920"/>
          </a:xfrm>
          <a:prstGeom prst="rect">
            <a:avLst/>
          </a:prstGeom>
          <a:noFill/>
        </p:spPr>
        <p:txBody>
          <a:bodyPr wrap="square" anchor="t" lIns="45720" rIns="45720">
            <a:spAutoFit/>
          </a:bodyPr>
          <a:lstStyle/>
          <a:p>
            <a:pPr algn="ctr"/>
            <a:r>
              <a:rPr sz="1800" b="1" i="0">
                <a:solidFill>
                  <a:srgbClr val="E65100"/>
                </a:solidFill>
                <a:latin typeface="Arial"/>
              </a:rPr>
              <a:t>[À COMPLÉTER : NOM et Prénoms du stagiaire]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