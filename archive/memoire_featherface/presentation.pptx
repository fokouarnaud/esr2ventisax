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mAP Hard sur WIDER FACE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 Hard (%)</c:v>
                </c:pt>
              </c:strCache>
            </c:strRef>
          </c:tx>
          <c:spPr>
            <a:solidFill>
              <a:srgbClr val="1F3A5F"/>
            </a:solidFill>
          </c:spPr>
          <c:dPt>
            <c:idx val="4"/>
            <c:spPr>
              <a:solidFill>
                <a:srgbClr val="E07A1F"/>
              </a:solidFill>
            </c:spPr>
          </c:dPt>
          <c:cat>
            <c:strRef>
              <c:f>Sheet1!$A$2:$A$6</c:f>
              <c:strCache>
                <c:ptCount val="5"/>
                <c:pt idx="0">
                  <c:v>BlazeFace</c:v>
                </c:pt>
                <c:pt idx="1">
                  <c:v>MobileFaceNets</c:v>
                </c:pt>
                <c:pt idx="2">
                  <c:v>YOLOv5-nano</c:v>
                </c:pt>
                <c:pt idx="3">
                  <c:v>FeatherFace CBAM</c:v>
                </c:pt>
                <c:pt idx="4">
                  <c:v>ECA-CBAM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65.0</c:v>
                </c:pt>
                <c:pt idx="1">
                  <c:v>70.0</c:v>
                </c:pt>
                <c:pt idx="2">
                  <c:v>75.0</c:v>
                </c:pt>
                <c:pt idx="3">
                  <c:v>78.3</c:v>
                </c:pt>
                <c:pt idx="4">
                  <c:v>80.0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50.0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Évolution du mAP Hard par phase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 Hard (%)</c:v>
                </c:pt>
              </c:strCache>
            </c:strRef>
          </c:tx>
          <c:spPr>
            <a:ln w="38100">
              <a:solidFill>
                <a:srgbClr val="E07A1F"/>
              </a:solidFill>
            </a:ln>
          </c:spPr>
          <c:marker>
            <c:spPr>
              <a:solidFill>
                <a:srgbClr val="E07A1F"/>
              </a:solidFill>
            </c:spPr>
          </c:marker>
          <c:cat>
            <c:strRef>
              <c:f>Sheet1!$A$2:$A$5</c:f>
              <c:strCache>
                <c:ptCount val="4"/>
                <c:pt idx="0">
                  <c:v>Fin phase 1
(ep. 30)</c:v>
                </c:pt>
                <c:pt idx="1">
                  <c:v>Fin phase 2a
(ep. 50)</c:v>
                </c:pt>
                <c:pt idx="2">
                  <c:v>Fin phase 2b
(ep. 70)</c:v>
                </c:pt>
                <c:pt idx="3">
                  <c:v>Fin phase 3
(ep. 100)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76.5</c:v>
                </c:pt>
                <c:pt idx="2">
                  <c:v>78.8</c:v>
                </c:pt>
                <c:pt idx="3">
                  <c:v>80.0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2.0"/>
          <c:min val="65.0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mAP Hard par variante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 Hard (%)</c:v>
                </c:pt>
              </c:strCache>
            </c:strRef>
          </c:tx>
          <c:spPr>
            <a:solidFill>
              <a:srgbClr val="1F3A5F"/>
            </a:solidFill>
          </c:spPr>
          <c:dPt>
            <c:idx val="3"/>
            <c:spPr>
              <a:solidFill>
                <a:srgbClr val="E07A1F"/>
              </a:solidFill>
            </c:spPr>
          </c:dPt>
          <c:cat>
            <c:strRef>
              <c:f>Sheet1!$A$2:$A$5</c:f>
              <c:strCache>
                <c:ptCount val="4"/>
                <c:pt idx="0">
                  <c:v>Sans attention</c:v>
                </c:pt>
                <c:pt idx="1">
                  <c:v>CBAM complet</c:v>
                </c:pt>
                <c:pt idx="2">
                  <c:v>ECA seul</c:v>
                </c:pt>
                <c:pt idx="3">
                  <c:v>ECA-CBAM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72.5</c:v>
                </c:pt>
                <c:pt idx="1">
                  <c:v>78.3</c:v>
                </c:pt>
                <c:pt idx="2">
                  <c:v>76.8</c:v>
                </c:pt>
                <c:pt idx="3">
                  <c:v>80.0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60.0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Je vous présente mon mémoire de Master II : la détection faciale sur smartphone par un mécanisme d'attention hybride ECA-CBAM, appliquée à la vérification de présence en salle de classe, sous la direction du Dr. AMINOU Halidou et du Dr. Janvier NGNOULAYE.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parties : contexte et problématique, état de l'art, méthodologie proposée, résultats expérimentaux, puis conclusion et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reconnaissance faciale est devenue incontournable : sécurité, biométrie, systèmes embarqués. Le smartphone permet d'automatiser la vérification de présence en classe. Mais deux contraintes s'opposent : les ressources limitées du téléphone et la difficulté des images réelles (petits visages, éclairage, occlusions). Les détecteurs lourds comme Faster R-CNN ou YOLO standard ne sont pas adaptés ; les détecteurs légers à une phase sont la voie pragmatique.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détecter de manière fiable des petits visages, partiellement occultés, sur un smartphone, sans sacrifier la vitesse ni la compacité ? Les combinaisons d'attention canal (ECA-Net) et spatiale (CBAM SAM) sont prometteuses, mais trois questions restent ouvertes.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principal : concevoir, implémenter et évaluer un modèle léger de détection faciale sur smartphone optimisé par une attention hybride ECA-Net + CBAM SAM. Il se décline en cinq objectifs spécifiques.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 Viola-Jones aux réseaux profonds : les détecteurs à deux phases sont précis mais trop lourds ; les détecteurs à une phase sont privilégiés pour l'embarqué. BlazeFace est ultra-rapide mais faible sur les cas difficiles ; RetinaFace est précis mais dépasse 23M paramètres. FeatherFace CBAM est le meilleur compromis actuel : 0,49M paramètres, environ 4 ms, 78,3 % de mAP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CBAM combine une attention canal (quoi) et spatiale (où). Mais sa partie canal utilise des couches entièrement connectées avec réduction de dimension : complexité O(C²). ECA-Net remplace cela par une convolution 1D adaptative, en O(C). D'où notre positionnement : garder l'attention spatiale de CBAM et remplacer son attention canal par ECA-Net, avec un entraînement multi-phase.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L'image d'entrée, redimensionnée en 640×640, passe dans le backbone MobileNet-0.25 qui extrait trois échelles : 64, 128 et 256 canaux. Trois modules ECA-CBAM raffinent ces sorties. Le BiFPN fusionne les échelles de façon bidirectionnelle (52 canaux), suivi de trois autres modules ECA-CBAM. Viennent ensuite le bloc SSH, le Channel Shuffle, et les têtes de détection : classification visage/fond, boîtes englobantes et 5 points de repère.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enchaîne deux étapes. Étape 1, attention canal ECA : pooling global moyen, convolution 1D de taille k adaptative (gamma = 2, b = 1), sigmoïde, puis recalibrage des canaux. Étape 2, attention spatiale CBAM : max et moyenne le long des canaux, concaténation, convolution 7×7, sigmoïde, recalibrage spatial. Complexité totale O(C + H×W) contre O(C² + H×W) pour CBAM.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: attentions désactivées, le backbone, le BiFPN et les têtes s'adaptent seuls, Adam à 1e-3, batch 32. Phase 2a : on dégèle ECA, learning rate 5e-4 avec cosine annealing. Phase 2b : on dégèle CBAM SAM. Phase 3 : fine-tuning global à 1e-4, augmentation intensive, early stopping sur le mAP hard. La perte combine classification, boîtes et landmarks avec des poids 2, 1 et 0,5.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Évaluation principale sur WIDER FACE : 32 203 images, 393 703 visages, trois niveaux de difficulté. Le niveau hard regroupe les visages de moins de 10 pixels et les fortes occlusions : c'est le plus critique pour la classe. On mesure le mAP, la latence, le nombre de paramètres et la taille du modèle. Comparaison avec FeatherFace CBAM, BlazeFace, MobileFaceNets et YOLOv5-nano, plus une étude d'ablation et un test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FeatherFace ECA-CBAM atteint 92,5 % en easy, 90,8 % en medium et 80,0 % en hard, soit +1,7 point sur le hard par rapport à FeatherFace CBAM et +10 points par rapport à MobileFaceNets. La latence baisse de 20 %, de 4,0 à 3,2 ms sur GPU A100, et le modèle ne pèse que 1,4 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mAP hard progresse à chaque phase : 72 % en fin de phase 1, 76,5 % après activation d'ECA, 78,8 % après SAM, et 80,0 % après le fine-tuning global. La perte passe de 8,5 à 2,1 en phase 1. Aucun surapprentissage : les courbes de validation et d'entraînement restent parallèles.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terrain sur 500 images capturées en classe avec un Samsung Galaxy S21, à 2–5 mètres, sous éclairage variable, avec 15 à 30 étudiants par image. Le modèle détecte 98 % des visages avec 1,8 % de faux positifs et une latence médiane de 10 ms sur Snapdragon 888. Qualitativement : bonne robustesse aux occlusions partielles et aux groupes denses.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variantes entraînées dans les mêmes conditions. Sans attention : 72,5 %. CBAM complet : +5,8 points mais 4,0 ms. ECA seul : +4,3 points à 3,0 ms. L'hybride ECA-CBAM obtient le meilleur score, 80,0 %, avec 3,2 ms et 0,45M paramètres : les attentions canal et spatiale sont complémentaires.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 à RetinaFace, le modèle atteint 98 % de sa précision en étant 71 fois plus compact et 19 fois plus rapide. Limites : masques couvrant plus de 70 % du visage (68 % de détection), visages de moins de 5 pixels (45 %), contre-jour (15 % d'échecs), dépendance au jeu WIDER FACE, latence de 15–20 ms sur processeurs anciens, et fusion des attentions encore non pondérée.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contributions : l'architecture hybride ECA-CBAM pour la détection faciale mobile, la méthodologie d'entraînement multi-phase, et la validation applicative en classe. Perspectives : à court terme, données de classe annotées, quantification INT8 et coefficients adaptatifs ; à moyen terme, MAFA/FDDB, attention temporelle et multi-tâche ; à long terme, Vision Transformers légers, auto-supervision et microcontrôleurs.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vous remercie pour votre attention et reste à votre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1148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21207"/>
            <a:ext cx="1014984" cy="1014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5960" y="50292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UNIVERSITÉ DE YAOUNDÉ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C9D3E0"/>
                </a:solidFill>
                <a:latin typeface="Calibri"/>
              </a:rPr>
              <a:t>Département d'Informatique  ·  Mémoire de Master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1064240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Détection faciale sur smartphone au moyen d'un mécanisme d'attention hybride ECA-CBAM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E07A1F"/>
                </a:solidFill>
                <a:latin typeface="Calibri"/>
              </a:rPr>
              <a:t>Application à la vérification de présence en salle de 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Présenté 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FOKOU Arnaud Cedric  –  13Y180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920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Sous la direction 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21208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Dr. AMINOU Halidou</a:t>
            </a:r>
          </a:p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Dr. Janvier NGNOULAYE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9D3E0"/>
                </a:solidFill>
                <a:latin typeface="Calibri"/>
              </a:rPr>
              <a:t>Année académique 2024 –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81328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2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Enjeux de la détection faciale mobile en classe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95728"/>
            <a:ext cx="731520" cy="73152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14016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État de l'art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0720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Modèles légers, mécanismes d'attention, limites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28416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46704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Méthodologie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39896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Architecture FeatherFace ECA-CBAM, entraînement multi-phase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4"/>
            <a:ext cx="731520" cy="73152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79392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Résultats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672584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WIDER FACE, contexte réel, ablation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93792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12079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605272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Contributions, limites, travaux futurs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Contexte de l'étude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E07A1F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11880" cy="4526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Le besoin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Vérification de présence automatisée en salle de classe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Smartphone : outil accessible, faible coût, non intrusif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Suivi fiable des présences en milieu éducatif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4526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Contraintes matérielles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39112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Puissance de calcul limitée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Mémoire restreinte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Consommation énergétique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Détecteurs lourds (Faster R-CNN, YOLO standard) inadaptés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611880" cy="4526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61188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Conditions réelles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039112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Petits visages capturés à 2–5 m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Occlusions : mains, masques, cheveux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Éclairage variable : fenêtres, néons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Poses non frontales, groupes denses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Problématique et questions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E07A1F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109960" cy="1325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Comment concevoir un détecteur facial à la fois compact, rapide et précis sur les petits visages, déployable sur smartphone pour la vérification de présence en classe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822960" cy="82296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222B33"/>
                </a:solidFill>
                <a:latin typeface="Calibri"/>
              </a:rPr>
              <a:t>Quel est le meilleur compromis compacité / précision des architectures hybrides pour les petits visages sur mobile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79"/>
            <a:ext cx="822960" cy="82296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79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222B33"/>
                </a:solidFill>
                <a:latin typeface="Calibri"/>
              </a:rPr>
              <a:t>Comment stabiliser l'apprentissage multi-phase des modules d'attention, sans dominance d'un mécanisme sur l'autre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822960" cy="82296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20640"/>
            <a:ext cx="10058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222B33"/>
                </a:solidFill>
                <a:latin typeface="Calibri"/>
              </a:rPr>
              <a:t>Une approche FeatherFace + attention ECA-CBAM répond-elle efficacement à la vérification de présence en milieu éducatif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Objectifs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E07A1F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Objectif principal : concevoir, implémenter et évaluer un détecteur facial léger pour smartphone, optimisé par une attention hybride ECA-Net + CBAM SAM.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103120" cy="3566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2606040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Étudier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les détecteurs légers (SSD) et les modules d'attention ECA-Net et CBAM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2377440"/>
            <a:ext cx="2103120" cy="3566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008" y="2606040"/>
            <a:ext cx="731520" cy="73152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352044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Intégrer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402336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l'attention hybride ECA-CBAM dans FeatherFace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5776" y="2377440"/>
            <a:ext cx="2103120" cy="3566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51576" y="2606040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52044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Développer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402336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une stratégie d'entraînement multi-phase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2377440"/>
            <a:ext cx="2103120" cy="3566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10144" y="2606040"/>
            <a:ext cx="731520" cy="73152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52044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Évaluer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402336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sur WIDER FACE et en salle de classe (précision, latence, taille)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82912" y="2377440"/>
            <a:ext cx="2103120" cy="3566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68712" y="2606040"/>
            <a:ext cx="731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52044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Comparer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402336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avec l'état de l'art et identifier les limites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Modèles légers de détection faciale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463040"/>
                <a:gridCol w="960120"/>
                <a:gridCol w="868680"/>
                <a:gridCol w="1005840"/>
                <a:gridCol w="9601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mAP Hard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Vitesse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BlazeFace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BlazeBlock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0.3M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~65 %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~1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MobileFaceNets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MobileNetV1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1.0M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~70 %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~5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YOLOv5-nano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CSPDarkNano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1.9M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~75 %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5–7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RetinaFace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ResNet50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&gt;23M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~80 %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&gt;60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FeatherFace CBAM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MobileNet-0.25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CBAM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0.49M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78.3 %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~4 ms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5B6770"/>
                </a:solidFill>
                <a:latin typeface="Calibri"/>
              </a:rPr>
              <a:t>Source : tableau comparatif du chapitre « Revue de la littérature 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3886200" cy="4526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417320"/>
            <a:ext cx="388620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81912"/>
            <a:ext cx="3611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039112"/>
            <a:ext cx="3611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Les détecteurs à une phase (SSD) sont la voie adaptée au mobile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Sans attention : rapides, mais faibles sur le niveau hard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F3A5F"/>
                </a:solidFill>
                <a:latin typeface="Calibri"/>
              </a:rPr>
              <a:t>FeatherFace CBAM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 : meilleur compromis existant, référence de départ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Mécanismes d'attention : limites et positionnement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1188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Attention canal → « quoi »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Attention spatiale → « où »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Canal via couches FC : coût O(C²)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ECA-Net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39112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Convolution 1D adaptative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Pas de réduction de dimension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Coût O(C), très peu de paramètres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61188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61188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8191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Limites actuelles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039112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Surcharge de l'attention canal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Visages &lt; 10 px difficiles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Déséquilibre entre attentions à l'entraînement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110996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Positionnement : remplacer l'attention canal de CBAM par ECA-Net, conserver l'attention spatiale (SAM), et stabiliser l'ensemble par un entraînement multi-phase.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Architecture proposée : FeatherFace ECA-CBAM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600200" cy="1325880"/>
          </a:xfrm>
          <a:prstGeom prst="round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Entrée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RGB 640×640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48716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50592" y="1828800"/>
            <a:ext cx="1600200" cy="1325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MobileNet-0.25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64 / 128 / 256 canaux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224" y="248716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52544" y="1828800"/>
            <a:ext cx="1600200" cy="132588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ECA-CBAM ×3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niveau backbone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0176" y="248716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54496" y="1828800"/>
            <a:ext cx="1600200" cy="1325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BiFPN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fusion multi-échelle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 × 52 canaux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82127" y="2487168"/>
            <a:ext cx="246889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56448" y="1828800"/>
            <a:ext cx="1600200" cy="132588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ECA-CBAM ×3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niveau BiFPN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248716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0" y="1828800"/>
            <a:ext cx="1600200" cy="1325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SSH + Shuffle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contexte multi-résolution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58500" y="3182112"/>
            <a:ext cx="0" cy="521208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3749039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Classification</a:t>
            </a:r>
          </a:p>
          <a:p>
            <a:pPr algn="ctr"/>
            <a:r>
              <a:rPr sz="1300" b="0" i="0">
                <a:solidFill>
                  <a:srgbClr val="1F3A5F"/>
                </a:solidFill>
                <a:latin typeface="Calibri"/>
              </a:rPr>
              <a:t>visage / fond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749039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Boîtes</a:t>
            </a:r>
          </a:p>
          <a:p>
            <a:pPr algn="ctr"/>
            <a:r>
              <a:rPr sz="1300" b="0" i="0">
                <a:solidFill>
                  <a:srgbClr val="1F3A5F"/>
                </a:solidFill>
                <a:latin typeface="Calibri"/>
              </a:rPr>
              <a:t>x, y, w, 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3749039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Landmarks</a:t>
            </a:r>
          </a:p>
          <a:p>
            <a:pPr algn="ctr"/>
            <a:r>
              <a:rPr sz="1300" b="0" i="0">
                <a:solidFill>
                  <a:srgbClr val="1F3A5F"/>
                </a:solidFill>
                <a:latin typeface="Calibri"/>
              </a:rPr>
              <a:t>5 points faciaux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54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Têtes de détection multitâches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5394960" cy="2377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539496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67911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Idée clé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25112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Attention hybride insérée à deux niveaux : backbone et BiFPN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Complexité canal réduite de O(C²) à O(C)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Base : FeatherFace CBAM (≈ 488 664 paramètres)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Le module hybride ECA-CBAM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463040" cy="1188720"/>
          </a:xfrm>
          <a:prstGeom prst="round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Entrée F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 × H × 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606040"/>
            <a:ext cx="457200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60320" y="1417320"/>
            <a:ext cx="4206240" cy="2377440"/>
          </a:xfrm>
          <a:prstGeom prst="rect">
            <a:avLst/>
          </a:prstGeom>
          <a:solidFill>
            <a:srgbClr val="F2F5F9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481328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Étape 1 — Attention canal 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20240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GAP → descripteur z ∈ ℝᶜ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Conv1D, noyau k adaptatif (γ = 2, b = 1)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F_ECA = σ(Conv1D(z)) ⊙ 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0" y="2606040"/>
            <a:ext cx="457200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0" y="1417320"/>
            <a:ext cx="4343400" cy="2377440"/>
          </a:xfrm>
          <a:prstGeom prst="rect">
            <a:avLst/>
          </a:prstGeom>
          <a:solidFill>
            <a:srgbClr val="F2F5F9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81328"/>
            <a:ext cx="4114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Étape 2 — Attention spatiale CBAM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202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MaxPool + AvgPool sur les canaux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Conv 7×7 → carte Mₛ = σ(·)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F_out = Mₛ ⊙ F_ECA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34747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79392"/>
            <a:ext cx="3474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O(C + H×W)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19472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Complexité du module ECA-CBAM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206240"/>
            <a:ext cx="34747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279392"/>
            <a:ext cx="3474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5B6770"/>
                </a:solidFill>
                <a:latin typeface="Calibri"/>
              </a:rPr>
              <a:t>O(C² + H×W)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919472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Complexité du CBAM classique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069080"/>
            <a:ext cx="3794760" cy="2011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4069080"/>
            <a:ext cx="379476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233672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Pourquoi ce choix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690872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ECA : ~95 % du gain de l'attention canal, coût ÷10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SAM : référence pour la localisation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Stratégie d'entraînement multi-phase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06040" cy="685800"/>
          </a:xfrm>
          <a:prstGeom prst="round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1 — Pré-entraînement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606040" cy="1325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Attentions à l'identité</a:t>
            </a:r>
          </a:p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lr = 1e-3 · ≈ 30 epochs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1801368"/>
            <a:ext cx="164592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64992" y="1463040"/>
            <a:ext cx="260604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2a — Activation ECA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2194560"/>
            <a:ext cx="2606040" cy="1325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286000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Dégel ECA, SAM figé</a:t>
            </a:r>
          </a:p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lr = 5e-4 · cosine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1801368"/>
            <a:ext cx="164592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1463040"/>
            <a:ext cx="260604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2b — Activation SAM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2194560"/>
            <a:ext cx="2606040" cy="1325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286000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Dégel CBAM SAM</a:t>
            </a:r>
          </a:p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lr = 5e-4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14816" y="1801368"/>
            <a:ext cx="164592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97696" y="1463040"/>
            <a:ext cx="2606040" cy="68580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3 — Fine-tuning global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2194560"/>
            <a:ext cx="2606040" cy="1325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2286000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Tout le réseau</a:t>
            </a:r>
          </a:p>
          <a:p>
            <a:pPr algn="ctr"/>
            <a:r>
              <a:rPr sz="1500" b="0" i="0">
                <a:solidFill>
                  <a:srgbClr val="222B33"/>
                </a:solidFill>
                <a:latin typeface="Calibri"/>
              </a:rPr>
              <a:t>lr = 1e-4 · early stopping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94760"/>
            <a:ext cx="5486400" cy="228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548640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59352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Perte multitâche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1655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L = 2.0·L_cls + 1.0·L_bbox + 0.5·L_landmark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Cross-entropy · Smooth L1 · Wing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794760"/>
            <a:ext cx="5486400" cy="228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94760"/>
            <a:ext cx="548640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959352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Régularisation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41655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Adam, batch 32, 80–120 epochs au total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Dropout 0.3 · weight decay 1e-4 · clipping 5.0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Flip, color jitter, random crop, mixup (α = 0.2)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Protocole d'évaluation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32 203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images WIDER 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9047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393 703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30552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visages annotés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9047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30552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niveaux : easy · medium · hard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17320"/>
            <a:ext cx="2606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490472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30552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images terrain en classe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3611880" cy="3154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9067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Métriques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47872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mAP par niveau de difficulté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Precision, Recall, F1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Latence (ms / image)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Paramètres et taille (MB)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926080"/>
            <a:ext cx="3611880" cy="3154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2608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09067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Comparaisons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47872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FeatherFace CBAM (baseline)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BlazeFace · MobileFaceNets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YOLOv5-nano · RetinaFace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926080"/>
            <a:ext cx="3611880" cy="3154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926080"/>
            <a:ext cx="361188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090672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Ablation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547872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Sans attention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CBAM seul · ECA seul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ECA-CBAM (proposition)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Résultats sur WIDER 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80160"/>
          <a:ext cx="704088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0" y="141732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490472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80.0 %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30552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mAP hard (+1.7 pt)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41732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1490472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3.2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130552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latence A100 (−20 %)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78892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862072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1.4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02152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taille du modèle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278892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862072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92.5 %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502152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mAP easy (90.8 % medium)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206240"/>
            <a:ext cx="379476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206240"/>
            <a:ext cx="379476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370831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Lecture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828031"/>
            <a:ext cx="35204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Gains sur les trois niveaux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Meilleur compromis précision / vitesse / taille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Convergence de l'entraînement multi-phase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80160"/>
          <a:ext cx="704088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0" y="1417320"/>
            <a:ext cx="3794760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417320"/>
            <a:ext cx="379476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81912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39112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F3A5F"/>
                </a:solidFill>
                <a:latin typeface="Calibri"/>
              </a:rPr>
              <a:t>+4.5 pt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 avec l'activation d'ECA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F3A5F"/>
                </a:solidFill>
                <a:latin typeface="Calibri"/>
              </a:rPr>
              <a:t>+2.3 pt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 avec CBAM SAM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F3A5F"/>
                </a:solidFill>
                <a:latin typeface="Calibri"/>
              </a:rPr>
              <a:t>+1.2 pt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 au fine-tuning global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Perte phase 1 : 8.5 → 2.1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2B33"/>
                </a:solidFill>
                <a:latin typeface="Calibri"/>
              </a:rPr>
              <a:t>Pas de surapprentissage observé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Validation en salle de classe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7040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Taux FP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Latence smartphone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BlazeFace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89.0 %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5.2 %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8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MobileFaceNets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92.5 %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3.8 %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15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FeatherFace CBAM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96.0 %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B33"/>
                          </a:solidFill>
                          <a:latin typeface="Calibri"/>
                        </a:rPr>
                        <a:t>12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3A5F"/>
                          </a:solidFill>
                          <a:latin typeface="Calibri"/>
                        </a:rPr>
                        <a:t>FeatherFace ECA-CBAM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A5F"/>
                          </a:solidFill>
                          <a:latin typeface="Calibri"/>
                        </a:rPr>
                        <a:t>98.0 %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A5F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A5F"/>
                          </a:solidFill>
                          <a:latin typeface="Calibri"/>
                        </a:rPr>
                        <a:t>10 ms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526280"/>
            <a:ext cx="704088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80"/>
            <a:ext cx="7040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90872"/>
            <a:ext cx="6766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Conditions du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48072"/>
            <a:ext cx="6766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500 images · Galaxy S21 · 2–5 m · 15–30 personnes par image · néons, fenêtres, faible lumière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417320"/>
            <a:ext cx="3794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490472"/>
            <a:ext cx="3794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98 %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30552"/>
            <a:ext cx="3611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des visages détectés (Recall)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88920"/>
            <a:ext cx="3794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62072"/>
            <a:ext cx="3794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&lt; 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02152"/>
            <a:ext cx="3611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de faux positifs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206240"/>
            <a:ext cx="379476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4206240"/>
            <a:ext cx="379476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370831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Analyse qualitative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828031"/>
            <a:ext cx="35204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Occlusions partielles : 95 % de succès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Visages de 8–12 px détectés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Étude d'ablation des mécanismes d'attention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80160"/>
          <a:ext cx="60350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2280" y="1417320"/>
          <a:ext cx="48463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mAP Hard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Latence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Sans attention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72.5 %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2.8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0.42M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+ CBAM complet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78.3 %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4.0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0.49M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+ ECA seul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76.8 %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3.0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0.44M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+ ECA-CBAM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80.0 %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3.2 ms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0.45M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12280" y="4206240"/>
            <a:ext cx="484632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4206240"/>
            <a:ext cx="484632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370831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Conclusion de l'ablation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828031"/>
            <a:ext cx="45720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+7.5 pt vs. sans attention, pour +0.4 ms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Complémentarité canal (ECA) / spatial (SAM)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Discussion et limites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mAP Hard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Latence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Taille</a:t>
                      </a:r>
                    </a:p>
                  </a:txBody>
                  <a:tcPr marL="54864" marR="54864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RetinaFace (ResNet50)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81.5 %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&gt; 60 ms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&gt; 100 MB</a:t>
                      </a:r>
                    </a:p>
                  </a:txBody>
                  <a:tcPr marL="54864" marR="54864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YOLOv5s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79.0 %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15–20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B33"/>
                          </a:solidFill>
                          <a:latin typeface="Calibri"/>
                        </a:rPr>
                        <a:t>14 MB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FeatherFace ECA-CBAM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80.0 %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3.2 ms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3A5F"/>
                          </a:solidFill>
                          <a:latin typeface="Calibri"/>
                        </a:rPr>
                        <a:t>1.4 MB</a:t>
                      </a:r>
                    </a:p>
                  </a:txBody>
                  <a:tcPr marL="54864" marR="54864" anchor="ctr">
                    <a:solidFill>
                      <a:srgbClr val="FDEBD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365760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3075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71×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70832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plus compact que RetinaFace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65760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73075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200" b="1" i="0">
                <a:solidFill>
                  <a:srgbClr val="E07A1F"/>
                </a:solidFill>
                <a:latin typeface="Calibri"/>
              </a:rPr>
              <a:t>19×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70832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plus rapide que RetinaFace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≈ 98 % de la précision de RetinaFace pour une fraction de son coût.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5394960" cy="4663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39496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81912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E07A1F"/>
                </a:solidFill>
                <a:latin typeface="Calibri"/>
              </a:rPr>
              <a:t>Limites identifiées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3911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Cas extrêmes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 : masques &gt; 70 % (68 %), visages &lt; 5 px (45 %), contre-jour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Dataset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 : éclairage et poses de classe sous-représentés dans WIDER FACE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Matériel ancien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 : 15–20 ms sur Snapdragon 660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Fusion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 : coefficients α, β non encore appris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92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Contributions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0972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Contexte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État de l'art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Méthodologie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Résultats</a:t>
            </a:r>
            <a:r>
              <a:rPr sz="1000" b="0" i="0">
                <a:solidFill>
                  <a:srgbClr val="5B6770"/>
                </a:solidFill>
                <a:latin typeface="Calibri"/>
              </a:rPr>
              <a:t>  ·  </a:t>
            </a:r>
            <a:r>
              <a:rPr sz="1000" b="1" i="0">
                <a:solidFill>
                  <a:srgbClr val="E07A1F"/>
                </a:solidFill>
                <a:latin typeface="Calibri"/>
              </a:rP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247120" cy="0"/>
          </a:xfrm>
          <a:prstGeom prst="line">
            <a:avLst/>
          </a:prstGeom>
          <a:ln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FOKOU Arnaud Cedric  —  Soutenance de Master II en Informatique  —  UY1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77724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99032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3"/>
                </a:solidFill>
                <a:latin typeface="Calibri"/>
              </a:rPr>
              <a:t>Hybride ECA-CBAM : 80.0 % mAP hard, 3.2 ms, 1.4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77724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F3A5F"/>
                </a:solidFill>
                <a:latin typeface="Calibri"/>
              </a:rPr>
              <a:t>Méthodologie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07208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3"/>
                </a:solidFill>
                <a:latin typeface="Calibri"/>
              </a:rPr>
              <a:t>Entraînement multi-phase stable et généralisable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65576"/>
            <a:ext cx="77724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4728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F3A5F"/>
                </a:solidFill>
                <a:latin typeface="Calibri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31336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3"/>
                </a:solidFill>
                <a:latin typeface="Calibri"/>
              </a:rPr>
              <a:t>98 % de Recall en salle de classe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2588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E07A1F"/>
                </a:solidFill>
                <a:latin typeface="Calibri"/>
              </a:rPr>
              <a:t>Perspectives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173736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173736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11680"/>
            <a:ext cx="1600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Court terme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395728"/>
            <a:ext cx="1600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6–12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880360"/>
            <a:ext cx="166420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Données de classe annotées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INT8, pruning, ONNX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Coefficients α, β appris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874519"/>
            <a:ext cx="173736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874519"/>
            <a:ext cx="173736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2011680"/>
            <a:ext cx="1600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Moyen terme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395728"/>
            <a:ext cx="1600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1–2 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80360"/>
            <a:ext cx="166420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FDDB, AFW, MAFA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Attention temporelle (vidéo)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Détection multi-tâche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874519"/>
            <a:ext cx="173736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21240" y="1874519"/>
            <a:ext cx="173736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2011680"/>
            <a:ext cx="1600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Long terme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395728"/>
            <a:ext cx="1600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5B6770"/>
                </a:solidFill>
                <a:latin typeface="Calibri"/>
              </a:rPr>
              <a:t>2–5 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880360"/>
            <a:ext cx="166420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ViT légers (MobileViT)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Auto-supervision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22B33"/>
                </a:solidFill>
                <a:latin typeface="Calibri"/>
              </a:rPr>
              <a:t>Edge / IoT (STM32, ESP32)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5394960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617720"/>
            <a:ext cx="4937760" cy="1417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L'hybridation ECA-CBAM améliore à la fois la précision et l'efficacité de la détection faciale mobile.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3749039"/>
            <a:ext cx="182880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0" i="0">
                <a:solidFill>
                  <a:srgbClr val="E07A1F"/>
                </a:solidFill>
                <a:latin typeface="Calibri"/>
              </a:rPr>
              <a:t>Questions &amp;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FOKOU Arnaud Cedric  –  13Y180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0">
                <a:solidFill>
                  <a:srgbClr val="C9D3E0"/>
                </a:solidFill>
                <a:latin typeface="Calibri"/>
              </a:rPr>
              <a:t>Dr. AMINOU Halidou  ·  Dr. Janvier NGNOULAYE  ·  Université de Yaoundé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